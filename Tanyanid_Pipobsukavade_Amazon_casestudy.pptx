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39"/>
  </p:notesMasterIdLst>
  <p:handoutMasterIdLst>
    <p:handoutMasterId r:id="rId40"/>
  </p:handoutMasterIdLst>
  <p:sldIdLst>
    <p:sldId id="409" r:id="rId4"/>
    <p:sldId id="262" r:id="rId5"/>
    <p:sldId id="275" r:id="rId6"/>
    <p:sldId id="398" r:id="rId7"/>
    <p:sldId id="400" r:id="rId8"/>
    <p:sldId id="399" r:id="rId9"/>
    <p:sldId id="401" r:id="rId10"/>
    <p:sldId id="380" r:id="rId11"/>
    <p:sldId id="382" r:id="rId12"/>
    <p:sldId id="379" r:id="rId13"/>
    <p:sldId id="384" r:id="rId14"/>
    <p:sldId id="410" r:id="rId15"/>
    <p:sldId id="391" r:id="rId16"/>
    <p:sldId id="383" r:id="rId17"/>
    <p:sldId id="381" r:id="rId18"/>
    <p:sldId id="389" r:id="rId19"/>
    <p:sldId id="392" r:id="rId20"/>
    <p:sldId id="390" r:id="rId21"/>
    <p:sldId id="388" r:id="rId22"/>
    <p:sldId id="402" r:id="rId23"/>
    <p:sldId id="343" r:id="rId24"/>
    <p:sldId id="268" r:id="rId25"/>
    <p:sldId id="403" r:id="rId26"/>
    <p:sldId id="406" r:id="rId27"/>
    <p:sldId id="378" r:id="rId28"/>
    <p:sldId id="395" r:id="rId29"/>
    <p:sldId id="393" r:id="rId30"/>
    <p:sldId id="394" r:id="rId31"/>
    <p:sldId id="396" r:id="rId32"/>
    <p:sldId id="273" r:id="rId33"/>
    <p:sldId id="404" r:id="rId34"/>
    <p:sldId id="411" r:id="rId35"/>
    <p:sldId id="397" r:id="rId36"/>
    <p:sldId id="405" r:id="rId37"/>
    <p:sldId id="407" r:id="rId3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C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65" autoAdjust="0"/>
    <p:restoredTop sz="71656"/>
  </p:normalViewPr>
  <p:slideViewPr>
    <p:cSldViewPr snapToGrid="0">
      <p:cViewPr>
        <p:scale>
          <a:sx n="135" d="100"/>
          <a:sy n="135" d="100"/>
        </p:scale>
        <p:origin x="896" y="512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Our</a:t>
            </a:r>
            <a:r>
              <a:rPr lang="en-US" baseline="0" dirty="0"/>
              <a:t> AOV &amp; Industry’s AOV by product category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TH"/>
        </a:p>
      </c:txPr>
    </c:title>
    <c:autoTitleDeleted val="0"/>
    <c:plotArea>
      <c:layout>
        <c:manualLayout>
          <c:layoutTarget val="inner"/>
          <c:xMode val="edge"/>
          <c:yMode val="edge"/>
          <c:x val="7.4520348156787916E-2"/>
          <c:y val="0.10297322680763055"/>
          <c:w val="0.85933959836211671"/>
          <c:h val="0.7061786620575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Industry's AOV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1.28602750357151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F6A-6E48-8232-F9A2F5B7E538}"/>
                </c:ext>
              </c:extLst>
            </c:dLbl>
            <c:numFmt formatCode="[$₹-40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Electronics</c:v>
                </c:pt>
                <c:pt idx="1">
                  <c:v>Home &amp; Kitchen / Home Improvement</c:v>
                </c:pt>
                <c:pt idx="2">
                  <c:v>Health &amp; Personal Care / Beauty &amp; Personal Care</c:v>
                </c:pt>
                <c:pt idx="3">
                  <c:v>Office Products</c:v>
                </c:pt>
                <c:pt idx="4">
                  <c:v>Toys &amp; Games</c:v>
                </c:pt>
                <c:pt idx="5">
                  <c:v>Car &amp; Motorbike</c:v>
                </c:pt>
                <c:pt idx="6">
                  <c:v>Computers &amp; Accessories</c:v>
                </c:pt>
                <c:pt idx="7">
                  <c:v>Musical Instruments</c:v>
                </c:pt>
              </c:strCache>
            </c:strRef>
          </c:cat>
          <c:val>
            <c:numRef>
              <c:f>Sheet1!$B$2:$B$9</c:f>
              <c:numCache>
                <c:formatCode>_(* #,##0.00_);_(* \(#,##0.00\);_(* "-"??_);_(@_)</c:formatCode>
                <c:ptCount val="8"/>
                <c:pt idx="0">
                  <c:v>4000</c:v>
                </c:pt>
                <c:pt idx="1">
                  <c:v>2500</c:v>
                </c:pt>
                <c:pt idx="2">
                  <c:v>1250</c:v>
                </c:pt>
                <c:pt idx="3">
                  <c:v>1750</c:v>
                </c:pt>
                <c:pt idx="4">
                  <c:v>1250</c:v>
                </c:pt>
                <c:pt idx="5">
                  <c:v>2500</c:v>
                </c:pt>
                <c:pt idx="6">
                  <c:v>3500</c:v>
                </c:pt>
                <c:pt idx="7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6A-6E48-8232-F9A2F5B7E5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product AOV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5.14411001428604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6A-6E48-8232-F9A2F5B7E538}"/>
                </c:ext>
              </c:extLst>
            </c:dLbl>
            <c:dLbl>
              <c:idx val="5"/>
              <c:layout>
                <c:manualLayout>
                  <c:x val="8.1013301618645759E-3"/>
                  <c:y val="2.8292605078573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F6A-6E48-8232-F9A2F5B7E538}"/>
                </c:ext>
              </c:extLst>
            </c:dLbl>
            <c:numFmt formatCode="[$₹-4009]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Electronics</c:v>
                </c:pt>
                <c:pt idx="1">
                  <c:v>Home &amp; Kitchen / Home Improvement</c:v>
                </c:pt>
                <c:pt idx="2">
                  <c:v>Health &amp; Personal Care / Beauty &amp; Personal Care</c:v>
                </c:pt>
                <c:pt idx="3">
                  <c:v>Office Products</c:v>
                </c:pt>
                <c:pt idx="4">
                  <c:v>Toys &amp; Games</c:v>
                </c:pt>
                <c:pt idx="5">
                  <c:v>Car &amp; Motorbike</c:v>
                </c:pt>
                <c:pt idx="6">
                  <c:v>Computers &amp; Accessories</c:v>
                </c:pt>
                <c:pt idx="7">
                  <c:v>Musical Instruments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4369</c:v>
                </c:pt>
                <c:pt idx="1">
                  <c:v>2313</c:v>
                </c:pt>
                <c:pt idx="2">
                  <c:v>2339</c:v>
                </c:pt>
                <c:pt idx="3">
                  <c:v>301</c:v>
                </c:pt>
                <c:pt idx="4">
                  <c:v>150</c:v>
                </c:pt>
                <c:pt idx="5">
                  <c:v>2339</c:v>
                </c:pt>
                <c:pt idx="6">
                  <c:v>998.11</c:v>
                </c:pt>
                <c:pt idx="7">
                  <c:v>638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6A-6E48-8232-F9A2F5B7E5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60371247"/>
        <c:axId val="1460372975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% difference</c:v>
                </c:pt>
              </c:strCache>
            </c:strRef>
          </c:tx>
          <c:spPr>
            <a:ln w="127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2.7911971356603124E-3"/>
                  <c:y val="2.43521652909930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F6A-6E48-8232-F9A2F5B7E5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T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Electronics</c:v>
                </c:pt>
                <c:pt idx="1">
                  <c:v>Home &amp; Kitchen / Home Improvement</c:v>
                </c:pt>
                <c:pt idx="2">
                  <c:v>Health &amp; Personal Care / Beauty &amp; Personal Care</c:v>
                </c:pt>
                <c:pt idx="3">
                  <c:v>Office Products</c:v>
                </c:pt>
                <c:pt idx="4">
                  <c:v>Toys &amp; Games</c:v>
                </c:pt>
                <c:pt idx="5">
                  <c:v>Car &amp; Motorbike</c:v>
                </c:pt>
                <c:pt idx="6">
                  <c:v>Computers &amp; Accessories</c:v>
                </c:pt>
                <c:pt idx="7">
                  <c:v>Musical Instruments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9.2249999999999999E-2</c:v>
                </c:pt>
                <c:pt idx="1">
                  <c:v>-7.4800000000000005E-2</c:v>
                </c:pt>
                <c:pt idx="2">
                  <c:v>0.87119999999999997</c:v>
                </c:pt>
                <c:pt idx="3">
                  <c:v>-0.82799999999999996</c:v>
                </c:pt>
                <c:pt idx="4">
                  <c:v>-0.88</c:v>
                </c:pt>
                <c:pt idx="5">
                  <c:v>-6.4399999999999999E-2</c:v>
                </c:pt>
                <c:pt idx="6">
                  <c:v>-0.71482571428571429</c:v>
                </c:pt>
                <c:pt idx="7">
                  <c:v>-0.74480000000000002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F6A-6E48-8232-F9A2F5B7E5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75219919"/>
        <c:axId val="1145978815"/>
      </c:lineChart>
      <c:catAx>
        <c:axId val="1460371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460372975"/>
        <c:crosses val="autoZero"/>
        <c:auto val="1"/>
        <c:lblAlgn val="ctr"/>
        <c:lblOffset val="100"/>
        <c:noMultiLvlLbl val="0"/>
      </c:catAx>
      <c:valAx>
        <c:axId val="1460372975"/>
        <c:scaling>
          <c:orientation val="minMax"/>
        </c:scaling>
        <c:delete val="0"/>
        <c:axPos val="l"/>
        <c:numFmt formatCode="[$₹-4009]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460371247"/>
        <c:crosses val="autoZero"/>
        <c:crossBetween val="between"/>
      </c:valAx>
      <c:valAx>
        <c:axId val="1145978815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TH"/>
          </a:p>
        </c:txPr>
        <c:crossAx val="1275219919"/>
        <c:crosses val="max"/>
        <c:crossBetween val="between"/>
      </c:valAx>
      <c:catAx>
        <c:axId val="12752199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45978815"/>
        <c:auto val="1"/>
        <c:lblAlgn val="ctr"/>
        <c:lblOffset val="100"/>
        <c:noMultiLvlLbl val="0"/>
      </c:catAx>
      <c:spPr>
        <a:noFill/>
        <a:ln w="19050">
          <a:noFill/>
          <a:prstDash val="sysDash"/>
        </a:ln>
        <a:effectLst/>
      </c:spPr>
    </c:plotArea>
    <c:legend>
      <c:legendPos val="b"/>
      <c:layout>
        <c:manualLayout>
          <c:xMode val="edge"/>
          <c:yMode val="edge"/>
          <c:x val="0.4150640909411587"/>
          <c:y val="0.10569990232288977"/>
          <c:w val="0.51877146007522168"/>
          <c:h val="4.68447455505525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TH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0.0744</cdr:x>
      <cdr:y>0.04455</cdr:y>
    </cdr:from>
    <cdr:to>
      <cdr:x>0.18261</cdr:x>
      <cdr:y>0.98698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8F9503B5-C4C8-02BF-19D8-6BB5495249C4}"/>
            </a:ext>
          </a:extLst>
        </cdr:cNvPr>
        <cdr:cNvSpPr txBox="1"/>
      </cdr:nvSpPr>
      <cdr:spPr>
        <a:xfrm xmlns:a="http://schemas.openxmlformats.org/drawingml/2006/main">
          <a:off x="677007" y="232335"/>
          <a:ext cx="984739" cy="4914900"/>
        </a:xfrm>
        <a:prstGeom xmlns:a="http://schemas.openxmlformats.org/drawingml/2006/main" prst="rect">
          <a:avLst/>
        </a:prstGeom>
        <a:ln xmlns:a="http://schemas.openxmlformats.org/drawingml/2006/main" w="19050">
          <a:solidFill>
            <a:srgbClr val="FF0000"/>
          </a:solidFill>
        </a:ln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TH" sz="1100" kern="1200" dirty="0"/>
        </a:p>
      </cdr:txBody>
    </cdr:sp>
  </cdr:relSizeAnchor>
  <cdr:relSizeAnchor xmlns:cdr="http://schemas.openxmlformats.org/drawingml/2006/chartDrawing">
    <cdr:from>
      <cdr:x>0.28578</cdr:x>
      <cdr:y>0.07827</cdr:y>
    </cdr:from>
    <cdr:to>
      <cdr:x>0.39399</cdr:x>
      <cdr:y>0.98689</cdr:y>
    </cdr:to>
    <cdr:sp macro="" textlink="">
      <cdr:nvSpPr>
        <cdr:cNvPr id="5" name="TextBox 1">
          <a:extLst xmlns:a="http://schemas.openxmlformats.org/drawingml/2006/main">
            <a:ext uri="{FF2B5EF4-FFF2-40B4-BE49-F238E27FC236}">
              <a16:creationId xmlns:a16="http://schemas.microsoft.com/office/drawing/2014/main" id="{6E421B71-2059-6F3E-2D70-5A1BB5DE0E26}"/>
            </a:ext>
          </a:extLst>
        </cdr:cNvPr>
        <cdr:cNvSpPr txBox="1"/>
      </cdr:nvSpPr>
      <cdr:spPr>
        <a:xfrm xmlns:a="http://schemas.openxmlformats.org/drawingml/2006/main">
          <a:off x="2600569" y="408181"/>
          <a:ext cx="984739" cy="4738596"/>
        </a:xfrm>
        <a:prstGeom xmlns:a="http://schemas.openxmlformats.org/drawingml/2006/main" prst="rect">
          <a:avLst/>
        </a:prstGeom>
        <a:ln xmlns:a="http://schemas.openxmlformats.org/drawingml/2006/main" w="19050">
          <a:solidFill>
            <a:srgbClr val="FF0000"/>
          </a:solidFill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TH" sz="1100" kern="12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6/15/25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DC57E-99D4-044A-ACA5-E94EF65AFCEB}" type="datetimeFigureOut">
              <a:rPr lang="en-TH" smtClean="0"/>
              <a:t>15/6/2025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10C3D-3782-9247-B817-41EB43FA575B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5900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78293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lookerstudio.google.com</a:t>
            </a:r>
            <a:r>
              <a:rPr lang="en-US" dirty="0"/>
              <a:t>/reporting/edec0cdc-b487-41bf-a5df-d1dd515dfab2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70692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11181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: Run a Correlation Check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expected AOV to rise with discount depth, but that wasn't the case. Some high-order days had normal discounts, proving that flat discounting doesn't reliably boost value.</a:t>
            </a:r>
          </a:p>
          <a:p>
            <a:r>
              <a:rPr lang="en-US" dirty="0"/>
              <a:t>However,  we have to look deeper first to conclude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4238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1675-04AE-6A00-97C9-7CEE85A2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59E59-08DA-0291-A096-009264526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3C547-1635-D6AA-15BC-CBBD0EDD4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H" dirty="0"/>
              <a:t>3) </a:t>
            </a:r>
            <a:r>
              <a:rPr lang="en-US" dirty="0"/>
              <a:t>Even though cheaper products generally sell more frequently (as the -0.15 correlation suggests), some categories like Electronics break this trend — they attract many buyers </a:t>
            </a:r>
            <a:r>
              <a:rPr lang="en-US" b="1" dirty="0"/>
              <a:t>despite</a:t>
            </a:r>
            <a:r>
              <a:rPr lang="en-US" dirty="0"/>
              <a:t> high prices, driving both volume and revenue.</a:t>
            </a:r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419FF-B50A-C137-4067-D7F4A18AD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2830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02701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TH" dirty="0"/>
              <a:t>et’s look at overview by category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85305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H" dirty="0"/>
              <a:t>AOV of each category comparing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78910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TH" dirty="0"/>
              <a:t>umber of multi-recuring total and by category won’t be the same since 1 user can be in more than 1 category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35653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50221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TH" dirty="0"/>
              <a:t>nique user ,Total discounted price,AOV</a:t>
            </a:r>
          </a:p>
          <a:p>
            <a:endParaRPr lang="en-TH" dirty="0"/>
          </a:p>
          <a:p>
            <a:pPr algn="ctr"/>
            <a:endParaRPr lang="en-US" sz="1200" dirty="0"/>
          </a:p>
          <a:p>
            <a:pPr algn="ctr">
              <a:buNone/>
            </a:pPr>
            <a:r>
              <a:rPr lang="en-US" sz="1200" b="1" u="sng" dirty="0"/>
              <a:t>Next steps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200" dirty="0"/>
              <a:t>Keep offering discounts for mass buyers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200" dirty="0"/>
              <a:t>Identify &amp; nurture </a:t>
            </a:r>
            <a:r>
              <a:rPr lang="en-US" sz="1200" b="1" dirty="0"/>
              <a:t>high-AOV customers</a:t>
            </a:r>
            <a:r>
              <a:rPr lang="en-US" sz="1200" dirty="0"/>
              <a:t> (could be premium segment)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200" dirty="0"/>
              <a:t>Test </a:t>
            </a:r>
            <a:r>
              <a:rPr lang="en-US" sz="1200" b="1" dirty="0"/>
              <a:t>tiered pricing or loyalty perks</a:t>
            </a:r>
            <a:r>
              <a:rPr lang="en-US" sz="1200" dirty="0"/>
              <a:t> for top spenders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76460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19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2574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26047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TH" dirty="0"/>
              <a:t>ased on power user, casual user, new user (make few user) </a:t>
            </a:r>
          </a:p>
          <a:p>
            <a:endParaRPr lang="en-TH" dirty="0"/>
          </a:p>
          <a:p>
            <a:r>
              <a:rPr lang="en-TH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37914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CCF48-B54F-0B7C-77B3-31026615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0BBF2-828F-66C0-2E07-D360294A7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1FA3C-66F9-7EEB-9520-5377216E8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94429-A0C5-EA41-2561-529836D31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65153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75CCA-66AE-D551-01DF-970D819D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2B32B-07C8-8B4A-C6A9-D320FACD5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FFFA4-80ED-F40D-BF1C-3CA55303C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14900-13AE-9AED-215A-8EECB146B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22719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TH" dirty="0"/>
              <a:t>luster0new buyer (encourage to buy , incentive for next purchases )</a:t>
            </a:r>
          </a:p>
          <a:p>
            <a:r>
              <a:rPr lang="en-TH" dirty="0"/>
              <a:t>, cluster1 (at risk) inactive for a while , need to retain back </a:t>
            </a:r>
          </a:p>
          <a:p>
            <a:r>
              <a:rPr lang="en-TH" dirty="0"/>
              <a:t>Cluser2 (loyal VIP) : maximize CLV (Exclusive offer, loyalty program)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2288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  <a:p>
            <a:endParaRPr lang="en-TH" dirty="0"/>
          </a:p>
          <a:p>
            <a:r>
              <a:rPr lang="en-TH" dirty="0"/>
              <a:t>Frequncy vs monetary </a:t>
            </a:r>
          </a:p>
          <a:p>
            <a:r>
              <a:rPr lang="en-US" dirty="0"/>
              <a:t>Users who </a:t>
            </a:r>
            <a:r>
              <a:rPr lang="en-US" b="1" dirty="0"/>
              <a:t>spend more</a:t>
            </a:r>
            <a:r>
              <a:rPr lang="en-US" dirty="0"/>
              <a:t> tend to be in </a:t>
            </a:r>
            <a:r>
              <a:rPr lang="en-US" b="1" dirty="0"/>
              <a:t>Cluster 2</a:t>
            </a:r>
            <a:r>
              <a:rPr lang="en-US" dirty="0"/>
              <a:t> and show </a:t>
            </a:r>
            <a:r>
              <a:rPr lang="en-US" b="1" dirty="0"/>
              <a:t>higher frequency</a:t>
            </a:r>
            <a:r>
              <a:rPr lang="en-US" dirty="0"/>
              <a:t>.</a:t>
            </a:r>
          </a:p>
          <a:p>
            <a:r>
              <a:rPr lang="en-US" b="1" dirty="0"/>
              <a:t>Cluster 0 and 1</a:t>
            </a:r>
            <a:r>
              <a:rPr lang="en-US" dirty="0"/>
              <a:t> spend significantly </a:t>
            </a:r>
            <a:r>
              <a:rPr lang="en-US" b="1" dirty="0"/>
              <a:t>less</a:t>
            </a:r>
            <a:r>
              <a:rPr lang="en-US" dirty="0"/>
              <a:t> despite similar or lower frequency.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29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58872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30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00916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31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33148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32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17258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33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41730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34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850649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10C3D-3782-9247-B817-41EB43FA575B}" type="slidenum">
              <a:rPr lang="en-TH" smtClean="0"/>
              <a:t>35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2877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3" y="3335252"/>
            <a:ext cx="1802732" cy="292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693" r:id="rId9"/>
    <p:sldLayoutId id="2147483707" r:id="rId10"/>
    <p:sldLayoutId id="2147483708" r:id="rId11"/>
    <p:sldLayoutId id="2147483656" r:id="rId12"/>
    <p:sldLayoutId id="2147483687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okerstudio.google.com/reporting/edec0cdc-b487-41bf-a5df-d1dd515dfab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2225-F349-38C2-8883-880499D171F2}"/>
              </a:ext>
            </a:extLst>
          </p:cNvPr>
          <p:cNvSpPr txBox="1">
            <a:spLocks/>
          </p:cNvSpPr>
          <p:nvPr/>
        </p:nvSpPr>
        <p:spPr>
          <a:xfrm>
            <a:off x="6394578" y="2433547"/>
            <a:ext cx="5605743" cy="2671501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India’s Amazon Transaction &amp; Product analysis</a:t>
            </a:r>
          </a:p>
          <a:p>
            <a:pPr algn="ctr"/>
            <a:r>
              <a:rPr lang="en-US" dirty="0"/>
              <a:t>in Jan - Feb 2019 </a:t>
            </a:r>
          </a:p>
          <a:p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AA36F03-88C1-9955-1282-53227472F07F}"/>
              </a:ext>
            </a:extLst>
          </p:cNvPr>
          <p:cNvSpPr txBox="1">
            <a:spLocks/>
          </p:cNvSpPr>
          <p:nvPr/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  <a:defRPr/>
            </a:pPr>
            <a:endParaRPr lang="en-US" altLang="ko-KR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E801F5B-0C5C-9FFF-EC07-7FC4384764A9}"/>
              </a:ext>
            </a:extLst>
          </p:cNvPr>
          <p:cNvSpPr txBox="1">
            <a:spLocks/>
          </p:cNvSpPr>
          <p:nvPr/>
        </p:nvSpPr>
        <p:spPr>
          <a:xfrm>
            <a:off x="7876541" y="5286737"/>
            <a:ext cx="5225568" cy="432048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altLang="ko-KR" sz="1400" dirty="0"/>
              <a:t>			16 June 2025</a:t>
            </a:r>
          </a:p>
        </p:txBody>
      </p:sp>
      <p:sp>
        <p:nvSpPr>
          <p:cNvPr id="5" name="TextBox 4">
            <a:hlinkClick r:id="rId2"/>
            <a:extLst>
              <a:ext uri="{FF2B5EF4-FFF2-40B4-BE49-F238E27FC236}">
                <a16:creationId xmlns:a16="http://schemas.microsoft.com/office/drawing/2014/main" id="{5D8857B9-3E42-9662-58B0-D1853D753555}"/>
              </a:ext>
            </a:extLst>
          </p:cNvPr>
          <p:cNvSpPr txBox="1"/>
          <p:nvPr/>
        </p:nvSpPr>
        <p:spPr>
          <a:xfrm>
            <a:off x="433633" y="5540896"/>
            <a:ext cx="11662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cs typeface="Arial" pitchFamily="34" charset="0"/>
              </a:rPr>
              <a:t>Tanyanid Pipobsukavadee</a:t>
            </a:r>
            <a:endParaRPr lang="ko-KR" altLang="en-US" sz="1000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35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9050"/>
            <a:ext cx="3188367" cy="1569660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Agenda</a:t>
            </a:r>
          </a:p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Style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68164" y="539163"/>
            <a:ext cx="6275141" cy="790507"/>
            <a:chOff x="4745820" y="1482096"/>
            <a:chExt cx="6275141" cy="790507"/>
          </a:xfrm>
        </p:grpSpPr>
        <p:grpSp>
          <p:nvGrpSpPr>
            <p:cNvPr id="4" name="Group 3"/>
            <p:cNvGrpSpPr/>
            <p:nvPr/>
          </p:nvGrpSpPr>
          <p:grpSpPr>
            <a:xfrm>
              <a:off x="5840274" y="1482096"/>
              <a:ext cx="5180687" cy="622321"/>
              <a:chOff x="6365620" y="1411926"/>
              <a:chExt cx="5180687" cy="622321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6454271" y="1757248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Executive summary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01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11278142" y="289050"/>
            <a:ext cx="529390" cy="985499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964152" y="1786436"/>
            <a:ext cx="6186490" cy="790507"/>
            <a:chOff x="4745820" y="1482096"/>
            <a:chExt cx="6186490" cy="790507"/>
          </a:xfrm>
        </p:grpSpPr>
        <p:grpSp>
          <p:nvGrpSpPr>
            <p:cNvPr id="15" name="Group 14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Overall Analysis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02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1" name="Group 20"/>
          <p:cNvGrpSpPr/>
          <p:nvPr/>
        </p:nvGrpSpPr>
        <p:grpSpPr>
          <a:xfrm>
            <a:off x="3960140" y="3033709"/>
            <a:ext cx="6186490" cy="790507"/>
            <a:chOff x="4745820" y="1482096"/>
            <a:chExt cx="6186490" cy="790507"/>
          </a:xfrm>
        </p:grpSpPr>
        <p:grpSp>
          <p:nvGrpSpPr>
            <p:cNvPr id="22" name="Group 21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Cohort Analysis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03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3956128" y="4280982"/>
            <a:ext cx="6186490" cy="790507"/>
            <a:chOff x="4745820" y="1482096"/>
            <a:chExt cx="6186490" cy="790507"/>
          </a:xfrm>
        </p:grpSpPr>
        <p:grpSp>
          <p:nvGrpSpPr>
            <p:cNvPr id="29" name="Group 28"/>
            <p:cNvGrpSpPr/>
            <p:nvPr/>
          </p:nvGrpSpPr>
          <p:grpSpPr>
            <a:xfrm>
              <a:off x="5840274" y="1482096"/>
              <a:ext cx="5092036" cy="615553"/>
              <a:chOff x="6365620" y="1411926"/>
              <a:chExt cx="5092036" cy="615553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365620" y="1411926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RFM Analysis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04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  <p:grpSp>
        <p:nvGrpSpPr>
          <p:cNvPr id="35" name="Group 34"/>
          <p:cNvGrpSpPr/>
          <p:nvPr/>
        </p:nvGrpSpPr>
        <p:grpSpPr>
          <a:xfrm>
            <a:off x="3952116" y="5537967"/>
            <a:ext cx="6194514" cy="780795"/>
            <a:chOff x="4745820" y="1491808"/>
            <a:chExt cx="6194514" cy="780795"/>
          </a:xfrm>
        </p:grpSpPr>
        <p:grpSp>
          <p:nvGrpSpPr>
            <p:cNvPr id="36" name="Group 35"/>
            <p:cNvGrpSpPr/>
            <p:nvPr/>
          </p:nvGrpSpPr>
          <p:grpSpPr>
            <a:xfrm>
              <a:off x="5840274" y="1635984"/>
              <a:ext cx="5100060" cy="461665"/>
              <a:chOff x="6365620" y="1565814"/>
              <a:chExt cx="5100060" cy="461665"/>
            </a:xfrm>
          </p:grpSpPr>
          <p:sp>
            <p:nvSpPr>
              <p:cNvPr id="40" name="TextBox 39"/>
              <p:cNvSpPr txBox="1"/>
              <p:nvPr/>
            </p:nvSpPr>
            <p:spPr>
              <a:xfrm>
                <a:off x="6365620" y="1750480"/>
                <a:ext cx="50920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1200" dirty="0">
                  <a:cs typeface="Arial" pitchFamily="34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6373644" y="1565814"/>
                <a:ext cx="5092036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cs typeface="Arial" pitchFamily="34" charset="0"/>
                  </a:rPr>
                  <a:t>Customer segmentation : K means</a:t>
                </a:r>
                <a:endParaRPr lang="ko-KR" altLang="en-US" b="1" dirty="0">
                  <a:cs typeface="Arial" pitchFamily="34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4745820" y="1491808"/>
              <a:ext cx="958096" cy="780795"/>
              <a:chOff x="5324331" y="1449052"/>
              <a:chExt cx="958096" cy="78079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5412981" y="1449052"/>
                <a:ext cx="780795" cy="78079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5324331" y="1516285"/>
                <a:ext cx="958096" cy="6463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chemeClr val="bg1"/>
                    </a:solidFill>
                    <a:cs typeface="Arial" pitchFamily="34" charset="0"/>
                  </a:rPr>
                  <a:t>05</a:t>
                </a:r>
                <a:endParaRPr lang="ko-KR" altLang="en-US" sz="3600" b="1" dirty="0">
                  <a:solidFill>
                    <a:schemeClr val="bg1"/>
                  </a:solidFill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7266" y="2841696"/>
            <a:ext cx="11573197" cy="724247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290A17-9218-4E6E-B9F0-0ED5DCDD3CB7}"/>
              </a:ext>
            </a:extLst>
          </p:cNvPr>
          <p:cNvSpPr/>
          <p:nvPr/>
        </p:nvSpPr>
        <p:spPr>
          <a:xfrm rot="894111">
            <a:off x="6012325" y="3914983"/>
            <a:ext cx="83080" cy="451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546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B69A89-F374-5D33-BD84-9B882C81FBE1}"/>
              </a:ext>
            </a:extLst>
          </p:cNvPr>
          <p:cNvSpPr txBox="1"/>
          <p:nvPr/>
        </p:nvSpPr>
        <p:spPr>
          <a:xfrm>
            <a:off x="1866183" y="3792221"/>
            <a:ext cx="10109530" cy="199137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Segment discount strategy </a:t>
            </a:r>
            <a:r>
              <a:rPr lang="en-US" sz="1400" dirty="0"/>
              <a:t>by value tier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Apply targeted incentives based on spending behavior.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Improve retention</a:t>
            </a:r>
            <a:r>
              <a:rPr lang="en-US" sz="1400" dirty="0"/>
              <a:t> via early re-engagement: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	- Launch </a:t>
            </a:r>
            <a:r>
              <a:rPr lang="en-US" sz="1400" b="1" dirty="0"/>
              <a:t>welcome campaigns</a:t>
            </a:r>
            <a:r>
              <a:rPr lang="en-US" sz="1400" dirty="0"/>
              <a:t> for New &amp; Recent Buyers.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	- Use </a:t>
            </a:r>
            <a:r>
              <a:rPr lang="en-US" sz="1400" b="1" dirty="0"/>
              <a:t>NPS/post-purchase surveys</a:t>
            </a:r>
            <a:r>
              <a:rPr lang="en-US" sz="1400" dirty="0"/>
              <a:t> for One-Time Buyers to uncover drop-off reasons.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Reduce discount levels</a:t>
            </a:r>
            <a:r>
              <a:rPr lang="en-US" sz="1400" dirty="0"/>
              <a:t> for high-AOV/premium segments.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Introduce loyalty programs</a:t>
            </a:r>
            <a:r>
              <a:rPr lang="en-US" sz="1400" dirty="0"/>
              <a:t> in high-potential categories (e.g. Electronics, Home &amp; Kitchen) to retain top spenders.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936F7-8272-8432-1D73-49D0FD2A9146}"/>
              </a:ext>
            </a:extLst>
          </p:cNvPr>
          <p:cNvSpPr txBox="1"/>
          <p:nvPr/>
        </p:nvSpPr>
        <p:spPr>
          <a:xfrm>
            <a:off x="1866183" y="1622843"/>
            <a:ext cx="10030542" cy="166821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Flat discounts are ineffective</a:t>
            </a:r>
            <a:r>
              <a:rPr lang="en-US" sz="1400" dirty="0"/>
              <a:t> → No positive correlation with order value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High-AOV users need less incentive</a:t>
            </a:r>
            <a:r>
              <a:rPr lang="en-US" sz="1400" dirty="0"/>
              <a:t> → These buyers convert without big discounts.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Low retention, but recurring buyers are valuable</a:t>
            </a:r>
            <a:r>
              <a:rPr lang="en-US" sz="1400" dirty="0"/>
              <a:t> → Only 7% are repeat users, but they spend more.</a:t>
            </a:r>
            <a:endParaRPr lang="en-TH" sz="1400" dirty="0"/>
          </a:p>
          <a:p>
            <a:pPr>
              <a:lnSpc>
                <a:spcPct val="150000"/>
              </a:lnSpc>
            </a:pPr>
            <a:endParaRPr lang="en-US" sz="1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B272D8-02D4-EE52-B1D5-425258AB78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91" y="377141"/>
            <a:ext cx="11573197" cy="724247"/>
          </a:xfrm>
        </p:spPr>
        <p:txBody>
          <a:bodyPr/>
          <a:lstStyle/>
          <a:p>
            <a:r>
              <a:rPr lang="en-TH" dirty="0"/>
              <a:t>Executive Summary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EC06A31E-CC67-3968-99AF-610FC2DDD6EC}"/>
              </a:ext>
            </a:extLst>
          </p:cNvPr>
          <p:cNvSpPr/>
          <p:nvPr/>
        </p:nvSpPr>
        <p:spPr>
          <a:xfrm>
            <a:off x="468530" y="2070088"/>
            <a:ext cx="1494692" cy="7737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/>
              <a:t>Key insights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D0ECFEB3-AA16-A24C-0F3F-2465167BDF3A}"/>
              </a:ext>
            </a:extLst>
          </p:cNvPr>
          <p:cNvSpPr/>
          <p:nvPr/>
        </p:nvSpPr>
        <p:spPr>
          <a:xfrm>
            <a:off x="371491" y="4401050"/>
            <a:ext cx="1494692" cy="7737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0463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56006-EFEC-6E66-9F28-B634BA8C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39FE95E-A4D4-F534-FF42-AA80A457843A}"/>
              </a:ext>
            </a:extLst>
          </p:cNvPr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F72147-D56E-8D58-FFC5-291C02595DB7}"/>
              </a:ext>
            </a:extLst>
          </p:cNvPr>
          <p:cNvSpPr txBox="1"/>
          <p:nvPr/>
        </p:nvSpPr>
        <p:spPr>
          <a:xfrm>
            <a:off x="1235228" y="868114"/>
            <a:ext cx="3460008" cy="1079732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Data scope</a:t>
            </a:r>
          </a:p>
          <a:p>
            <a:r>
              <a:rPr lang="en-US" altLang="ko-KR" sz="3600" dirty="0">
                <a:latin typeface="+mj-lt"/>
              </a:rPr>
              <a:t> </a:t>
            </a:r>
            <a:r>
              <a:rPr lang="en-US" altLang="ko-KR" sz="2000" dirty="0"/>
              <a:t>EDA, Data Cleaning</a:t>
            </a:r>
            <a:endParaRPr lang="en-US" altLang="ko-KR" sz="3600" dirty="0">
              <a:latin typeface="+mj-lt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CFA85C-0776-104D-48B5-B500A43F120C}"/>
              </a:ext>
            </a:extLst>
          </p:cNvPr>
          <p:cNvSpPr/>
          <p:nvPr/>
        </p:nvSpPr>
        <p:spPr>
          <a:xfrm>
            <a:off x="1050678" y="646043"/>
            <a:ext cx="2899975" cy="1079733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BC4B70-0C14-701F-40BA-AFA490AB1EFF}"/>
              </a:ext>
            </a:extLst>
          </p:cNvPr>
          <p:cNvSpPr/>
          <p:nvPr/>
        </p:nvSpPr>
        <p:spPr>
          <a:xfrm>
            <a:off x="1050678" y="1716774"/>
            <a:ext cx="3631794" cy="470890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52E348B7-F053-64C2-6B88-ED887B5E82CB}"/>
              </a:ext>
            </a:extLst>
          </p:cNvPr>
          <p:cNvSpPr txBox="1">
            <a:spLocks/>
          </p:cNvSpPr>
          <p:nvPr/>
        </p:nvSpPr>
        <p:spPr>
          <a:xfrm>
            <a:off x="2208478" y="5712777"/>
            <a:ext cx="2820722" cy="664474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12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0F7E78-6E7D-AB36-BA0D-236D015AFB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TH" sz="3000" dirty="0"/>
              <a:t>Data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51F64-F3EC-13A8-DCC5-F311993623B3}"/>
              </a:ext>
            </a:extLst>
          </p:cNvPr>
          <p:cNvSpPr/>
          <p:nvPr/>
        </p:nvSpPr>
        <p:spPr>
          <a:xfrm>
            <a:off x="4854802" y="1764080"/>
            <a:ext cx="2243579" cy="7737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>
                <a:solidFill>
                  <a:schemeClr val="tx1"/>
                </a:solidFill>
              </a:rPr>
              <a:t>Jan-Feb 2019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F2F16B1E-389D-54EB-9798-6CBFDC3C6141}"/>
              </a:ext>
            </a:extLst>
          </p:cNvPr>
          <p:cNvSpPr/>
          <p:nvPr/>
        </p:nvSpPr>
        <p:spPr>
          <a:xfrm>
            <a:off x="2646122" y="1764080"/>
            <a:ext cx="1494692" cy="7737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/>
              <a:t>Timeframe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2BA55EDD-05D0-4855-564C-0FAACFDE6E75}"/>
              </a:ext>
            </a:extLst>
          </p:cNvPr>
          <p:cNvSpPr/>
          <p:nvPr/>
        </p:nvSpPr>
        <p:spPr>
          <a:xfrm>
            <a:off x="2646122" y="2952477"/>
            <a:ext cx="1494692" cy="7737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/>
              <a:t>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96870-96AA-4F8E-A4BF-0D4BBC52C477}"/>
              </a:ext>
            </a:extLst>
          </p:cNvPr>
          <p:cNvSpPr/>
          <p:nvPr/>
        </p:nvSpPr>
        <p:spPr>
          <a:xfrm>
            <a:off x="4854802" y="2898850"/>
            <a:ext cx="2809190" cy="7737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>
                <a:solidFill>
                  <a:schemeClr val="tx1"/>
                </a:solidFill>
              </a:rPr>
              <a:t>Transaction by user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2E7493-AF3D-5348-9D05-CA3AF6BBBE6B}"/>
              </a:ext>
            </a:extLst>
          </p:cNvPr>
          <p:cNvSpPr/>
          <p:nvPr/>
        </p:nvSpPr>
        <p:spPr>
          <a:xfrm>
            <a:off x="4854802" y="3861955"/>
            <a:ext cx="2809190" cy="7737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>
                <a:solidFill>
                  <a:schemeClr val="tx1"/>
                </a:solidFill>
              </a:rPr>
              <a:t>Product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10D5CEA7-B284-AD7F-2A35-29E5E6D568F9}"/>
              </a:ext>
            </a:extLst>
          </p:cNvPr>
          <p:cNvSpPr/>
          <p:nvPr/>
        </p:nvSpPr>
        <p:spPr>
          <a:xfrm>
            <a:off x="2646122" y="4961959"/>
            <a:ext cx="1577086" cy="7737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/>
              <a:t>Datasource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9EED8-BAA8-90BC-44FC-9763E0D5937B}"/>
              </a:ext>
            </a:extLst>
          </p:cNvPr>
          <p:cNvSpPr/>
          <p:nvPr/>
        </p:nvSpPr>
        <p:spPr>
          <a:xfrm>
            <a:off x="4854802" y="4961959"/>
            <a:ext cx="2809190" cy="77372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>
                <a:solidFill>
                  <a:schemeClr val="tx1"/>
                </a:solidFill>
              </a:rPr>
              <a:t>India’s Amazon</a:t>
            </a:r>
          </a:p>
        </p:txBody>
      </p:sp>
    </p:spTree>
    <p:extLst>
      <p:ext uri="{BB962C8B-B14F-4D97-AF65-F5344CB8AC3E}">
        <p14:creationId xmlns:p14="http://schemas.microsoft.com/office/powerpoint/2010/main" val="2965085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BAD30D-BE3D-5E79-87B8-59D2EC2C99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-131560"/>
            <a:ext cx="11573197" cy="724247"/>
          </a:xfrm>
        </p:spPr>
        <p:txBody>
          <a:bodyPr/>
          <a:lstStyle/>
          <a:p>
            <a:r>
              <a:rPr lang="en-TH" sz="3000" dirty="0"/>
              <a:t>Dashboard: 2 pages “Overall Performance” &amp; ”Cohort Analysis”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2B443-A2D0-9C00-310F-6F104447730A}"/>
              </a:ext>
            </a:extLst>
          </p:cNvPr>
          <p:cNvSpPr txBox="1"/>
          <p:nvPr/>
        </p:nvSpPr>
        <p:spPr>
          <a:xfrm>
            <a:off x="-17514" y="6145196"/>
            <a:ext cx="46614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hlinkClick r:id="rId3"/>
              </a:rPr>
              <a:t>https://lookerstudio.google.com/reporting/edec0cdc-b487-41bf-a5df-d1dd515dfab2</a:t>
            </a:r>
            <a:endParaRPr lang="en-US" sz="1600" dirty="0"/>
          </a:p>
          <a:p>
            <a:endParaRPr lang="en-TH" sz="16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D9A8F6-D120-5BC4-4E9E-6B72F06F53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42" t="5165"/>
          <a:stretch>
            <a:fillRect/>
          </a:stretch>
        </p:blipFill>
        <p:spPr>
          <a:xfrm>
            <a:off x="54398" y="499060"/>
            <a:ext cx="4661434" cy="5605349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E25D95DE-4F94-9543-4BC2-63DD094E8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619" y="394799"/>
            <a:ext cx="4174195" cy="3483102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6DE5DB-DD79-85F9-EF97-DC3656E3E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270" y="3877901"/>
            <a:ext cx="7450332" cy="285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7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13CF-ECAE-A87D-C089-67C45E069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E2F3638-A64E-5B78-0DFB-2CF37895219E}"/>
              </a:ext>
            </a:extLst>
          </p:cNvPr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C9E5CD-F43E-5F23-541C-ECFCB1521C81}"/>
              </a:ext>
            </a:extLst>
          </p:cNvPr>
          <p:cNvSpPr txBox="1"/>
          <p:nvPr/>
        </p:nvSpPr>
        <p:spPr>
          <a:xfrm>
            <a:off x="1235228" y="868114"/>
            <a:ext cx="3460008" cy="1079732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Analysis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B46F76-A49A-24A0-4EDA-95D323E8D805}"/>
              </a:ext>
            </a:extLst>
          </p:cNvPr>
          <p:cNvSpPr/>
          <p:nvPr/>
        </p:nvSpPr>
        <p:spPr>
          <a:xfrm>
            <a:off x="1050678" y="646043"/>
            <a:ext cx="2899975" cy="1079733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332B16B-FD18-5950-4554-3FEB8A7113C6}"/>
              </a:ext>
            </a:extLst>
          </p:cNvPr>
          <p:cNvSpPr/>
          <p:nvPr/>
        </p:nvSpPr>
        <p:spPr>
          <a:xfrm>
            <a:off x="1050678" y="1716774"/>
            <a:ext cx="3631794" cy="470890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B6C94271-BE16-2DBD-D58D-CE41A9801D8E}"/>
              </a:ext>
            </a:extLst>
          </p:cNvPr>
          <p:cNvSpPr txBox="1">
            <a:spLocks/>
          </p:cNvSpPr>
          <p:nvPr/>
        </p:nvSpPr>
        <p:spPr>
          <a:xfrm>
            <a:off x="2208478" y="5712777"/>
            <a:ext cx="2820722" cy="664474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49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44290A-E42A-4613-A68F-FFE3EDF861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371" y="142331"/>
            <a:ext cx="12092629" cy="724247"/>
          </a:xfrm>
        </p:spPr>
        <p:txBody>
          <a:bodyPr/>
          <a:lstStyle/>
          <a:p>
            <a:r>
              <a:rPr lang="en-US" sz="3000" dirty="0"/>
              <a:t>AOV Fluctuates Independently from Discount – Suggests Discount Isn’t a Key Driver</a:t>
            </a:r>
            <a:endParaRPr lang="en-TH" sz="3000" dirty="0"/>
          </a:p>
        </p:txBody>
      </p:sp>
      <p:pic>
        <p:nvPicPr>
          <p:cNvPr id="3" name="Picture 2" descr="A graph of sales&#10;&#10;AI-generated content may be incorrect.">
            <a:extLst>
              <a:ext uri="{FF2B5EF4-FFF2-40B4-BE49-F238E27FC236}">
                <a16:creationId xmlns:a16="http://schemas.microsoft.com/office/drawing/2014/main" id="{8A9AB85F-4366-7589-D442-C5C957D3C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9" y="1547027"/>
            <a:ext cx="5841171" cy="4342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5D8791-558F-93D7-6267-E6F0CB19A4B9}"/>
              </a:ext>
            </a:extLst>
          </p:cNvPr>
          <p:cNvSpPr txBox="1"/>
          <p:nvPr/>
        </p:nvSpPr>
        <p:spPr>
          <a:xfrm>
            <a:off x="688631" y="7221171"/>
            <a:ext cx="6608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No Strong Positive Correlation Between Discount% and AOV</a:t>
            </a:r>
          </a:p>
          <a:p>
            <a:r>
              <a:rPr lang="en-US" sz="1400" dirty="0"/>
              <a:t>Discounts stayed fairly steady (40–50%), while AOV jumped up and down — sometimes even dropping when discounts increased. So, bigger discounts don’t always mean bigger orders.</a:t>
            </a:r>
            <a:endParaRPr lang="en-TH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43FAC-0F04-425B-9344-81AEB4AAD39F}"/>
              </a:ext>
            </a:extLst>
          </p:cNvPr>
          <p:cNvSpPr txBox="1"/>
          <p:nvPr/>
        </p:nvSpPr>
        <p:spPr>
          <a:xfrm>
            <a:off x="5880939" y="3044547"/>
            <a:ext cx="5432612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AOV Spikes Aren’t Tied to Discounts</a:t>
            </a:r>
            <a:br>
              <a:rPr lang="en-US" sz="1200" dirty="0"/>
            </a:br>
            <a:r>
              <a:rPr lang="en-US" sz="1200" b="1" dirty="0"/>
              <a:t>High AOV days </a:t>
            </a:r>
            <a:r>
              <a:rPr lang="en-US" sz="1200" dirty="0"/>
              <a:t>(like Feb 8 and 17) </a:t>
            </a:r>
            <a:r>
              <a:rPr lang="en-US" sz="1200" dirty="0">
                <a:solidFill>
                  <a:srgbClr val="FF0000"/>
                </a:solidFill>
              </a:rPr>
              <a:t>don’t match up </a:t>
            </a:r>
            <a:r>
              <a:rPr lang="en-US" sz="1200" dirty="0"/>
              <a:t>with changes in discount levels. These spikes likely came from specific users, products, or large purchases — not from discounting.</a:t>
            </a:r>
            <a:endParaRPr lang="en-TH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837BF-A217-6FC1-A242-EF727761991B}"/>
              </a:ext>
            </a:extLst>
          </p:cNvPr>
          <p:cNvSpPr txBox="1"/>
          <p:nvPr/>
        </p:nvSpPr>
        <p:spPr>
          <a:xfrm>
            <a:off x="5880939" y="4287523"/>
            <a:ext cx="5432612" cy="13542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Flat Discount Strategy</a:t>
            </a:r>
            <a:br>
              <a:rPr lang="en-US" sz="1600" dirty="0"/>
            </a:br>
            <a:r>
              <a:rPr lang="en-US" sz="1200" dirty="0"/>
              <a:t>The discount % barely changed, which suggests a mass discounting approach rather than tailored promos.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However, </a:t>
            </a:r>
            <a:r>
              <a:rPr lang="en-US" sz="1400" dirty="0"/>
              <a:t>we have to look deeper to conclude this </a:t>
            </a:r>
            <a:r>
              <a:rPr lang="en-US" sz="1400" b="1" dirty="0"/>
              <a:t>by each customer group</a:t>
            </a:r>
            <a:endParaRPr lang="en-TH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EBED-0F55-9882-F92C-088F4F40AC35}"/>
              </a:ext>
            </a:extLst>
          </p:cNvPr>
          <p:cNvSpPr txBox="1"/>
          <p:nvPr/>
        </p:nvSpPr>
        <p:spPr>
          <a:xfrm>
            <a:off x="5880939" y="2085555"/>
            <a:ext cx="5432612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AOV fluctuates independently of discount level. Big AOV days occurred with average discounts</a:t>
            </a:r>
            <a:r>
              <a:rPr lang="en-US" dirty="0"/>
              <a:t>.</a:t>
            </a:r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133195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4E975-72BB-A682-D72A-0895D7DF21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312580"/>
            <a:ext cx="11573197" cy="600440"/>
          </a:xfrm>
        </p:spPr>
        <p:txBody>
          <a:bodyPr/>
          <a:lstStyle/>
          <a:p>
            <a:r>
              <a:rPr lang="en-TH" sz="3600" dirty="0"/>
              <a:t>Correlation Between Percentage Discount to AOV</a:t>
            </a:r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4985CCBC-3B44-D4A0-72AF-B9FC2153E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26" y="1393350"/>
            <a:ext cx="5857624" cy="4734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E4A2A2-24C5-6545-31F7-21038AC75596}"/>
              </a:ext>
            </a:extLst>
          </p:cNvPr>
          <p:cNvSpPr txBox="1"/>
          <p:nvPr/>
        </p:nvSpPr>
        <p:spPr>
          <a:xfrm>
            <a:off x="7039773" y="1672427"/>
            <a:ext cx="48569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TH" b="1" dirty="0">
                <a:solidFill>
                  <a:srgbClr val="FF0000"/>
                </a:solidFill>
              </a:rPr>
              <a:t>Negative Correlation </a:t>
            </a:r>
          </a:p>
          <a:p>
            <a:r>
              <a:rPr lang="en-TH" dirty="0"/>
              <a:t>: Most users with high discounts (85%-95%) tend to have lower AOVs</a:t>
            </a:r>
          </a:p>
          <a:p>
            <a:endParaRPr lang="en-US" dirty="0"/>
          </a:p>
          <a:p>
            <a:r>
              <a:rPr lang="en-US" b="1" u="sng" dirty="0"/>
              <a:t>Suggestions</a:t>
            </a:r>
          </a:p>
          <a:p>
            <a:r>
              <a:rPr lang="en-US" dirty="0"/>
              <a:t>Heavy discounts </a:t>
            </a:r>
            <a:r>
              <a:rPr lang="en-US" b="1" dirty="0"/>
              <a:t>do not lead to higher-value orders</a:t>
            </a:r>
            <a:r>
              <a:rPr lang="en-US" dirty="0"/>
              <a:t>.</a:t>
            </a:r>
          </a:p>
          <a:p>
            <a:endParaRPr lang="en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162BD-C68F-219F-DAA9-F3D6F791F74B}"/>
              </a:ext>
            </a:extLst>
          </p:cNvPr>
          <p:cNvSpPr txBox="1"/>
          <p:nvPr/>
        </p:nvSpPr>
        <p:spPr>
          <a:xfrm>
            <a:off x="7039772" y="3791682"/>
            <a:ext cx="48569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>
                <a:sym typeface="Wingdings" pitchFamily="2" charset="2"/>
              </a:rPr>
              <a:t> </a:t>
            </a:r>
            <a:r>
              <a:rPr lang="en-TH" b="1" dirty="0">
                <a:sym typeface="Wingdings" pitchFamily="2" charset="2"/>
              </a:rPr>
              <a:t>High-AOV Users get Lower Discount</a:t>
            </a:r>
          </a:p>
          <a:p>
            <a:r>
              <a:rPr lang="en-TH" dirty="0">
                <a:sym typeface="Wingdings" pitchFamily="2" charset="2"/>
              </a:rPr>
              <a:t>: Users spending 5k-15k+ per order tend to receive lower discount (around 70%-75%)</a:t>
            </a:r>
          </a:p>
          <a:p>
            <a:endParaRPr lang="en-TH" dirty="0">
              <a:sym typeface="Wingdings" pitchFamily="2" charset="2"/>
            </a:endParaRPr>
          </a:p>
          <a:p>
            <a:r>
              <a:rPr lang="en-US" b="1" u="sng" dirty="0"/>
              <a:t>Suggestions</a:t>
            </a:r>
          </a:p>
          <a:p>
            <a:r>
              <a:rPr lang="en-US" dirty="0"/>
              <a:t>These users may </a:t>
            </a:r>
            <a:r>
              <a:rPr lang="en-US" dirty="0">
                <a:solidFill>
                  <a:srgbClr val="FF0000"/>
                </a:solidFill>
              </a:rPr>
              <a:t>not need </a:t>
            </a:r>
            <a:r>
              <a:rPr lang="en-US" b="1" dirty="0"/>
              <a:t>large discounts </a:t>
            </a:r>
            <a:r>
              <a:rPr lang="en-US" dirty="0"/>
              <a:t>to convert — they might be high-intent or premium buyers.</a:t>
            </a:r>
            <a:endParaRPr lang="en-TH" dirty="0"/>
          </a:p>
          <a:p>
            <a:endParaRPr lang="en-TH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2781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A319B-E9ED-614C-3C09-90BB66CA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12D30B-F75A-9286-DBD1-74A8AABE96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7095" y="38026"/>
            <a:ext cx="11573197" cy="724247"/>
          </a:xfrm>
        </p:spPr>
        <p:txBody>
          <a:bodyPr/>
          <a:lstStyle/>
          <a:p>
            <a:r>
              <a:rPr lang="en-TH" sz="3000" dirty="0"/>
              <a:t>Overall Product Feature Correlation 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C7B6F2B2-474B-6D0D-01D0-EC1C28B08633}"/>
              </a:ext>
            </a:extLst>
          </p:cNvPr>
          <p:cNvSpPr/>
          <p:nvPr/>
        </p:nvSpPr>
        <p:spPr>
          <a:xfrm>
            <a:off x="6332772" y="921806"/>
            <a:ext cx="1664169" cy="72586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400" dirty="0">
                <a:solidFill>
                  <a:schemeClr val="tx1"/>
                </a:solidFill>
              </a:rPr>
              <a:t>Purchase count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vs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Review 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653D8-5A25-99A4-70DE-8F446754DB32}"/>
              </a:ext>
            </a:extLst>
          </p:cNvPr>
          <p:cNvSpPr txBox="1"/>
          <p:nvPr/>
        </p:nvSpPr>
        <p:spPr>
          <a:xfrm>
            <a:off x="8598869" y="926881"/>
            <a:ext cx="328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Every purchase </a:t>
            </a:r>
            <a:r>
              <a:rPr lang="en-US" sz="1200" u="sng" dirty="0"/>
              <a:t>comes with a review </a:t>
            </a:r>
            <a:r>
              <a:rPr lang="en-US" sz="1200" dirty="0"/>
              <a:t>(possibly one review per purchase). </a:t>
            </a:r>
          </a:p>
          <a:p>
            <a:pPr algn="ctr"/>
            <a:r>
              <a:rPr lang="en-US" sz="1200" i="1" dirty="0"/>
              <a:t>This is because of data structure </a:t>
            </a:r>
          </a:p>
          <a:p>
            <a:pPr algn="ctr"/>
            <a:r>
              <a:rPr lang="en-US" sz="1200" i="1" dirty="0"/>
              <a:t>(1 transaction will have </a:t>
            </a:r>
            <a:r>
              <a:rPr lang="en-US" sz="1200" i="1" dirty="0" err="1"/>
              <a:t>review_id</a:t>
            </a:r>
            <a:r>
              <a:rPr lang="en-US" sz="1200" i="1" dirty="0"/>
              <a:t>)</a:t>
            </a:r>
            <a:endParaRPr lang="en-TH" sz="1200" i="1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185A5A2C-EFBC-9A44-F5E3-92F4658F7F31}"/>
              </a:ext>
            </a:extLst>
          </p:cNvPr>
          <p:cNvSpPr/>
          <p:nvPr/>
        </p:nvSpPr>
        <p:spPr>
          <a:xfrm>
            <a:off x="6251409" y="1778261"/>
            <a:ext cx="1664169" cy="72586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400" dirty="0">
                <a:solidFill>
                  <a:schemeClr val="tx1"/>
                </a:solidFill>
              </a:rPr>
              <a:t>Rating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vs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Purchase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9E1E18-183B-B261-B480-522F8A479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2" y="642360"/>
            <a:ext cx="5776194" cy="4913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0515E9-E3F6-DDB6-B188-9E1E51FDEED7}"/>
              </a:ext>
            </a:extLst>
          </p:cNvPr>
          <p:cNvSpPr txBox="1"/>
          <p:nvPr/>
        </p:nvSpPr>
        <p:spPr>
          <a:xfrm>
            <a:off x="8615302" y="2726613"/>
            <a:ext cx="328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More ratings </a:t>
            </a:r>
            <a:r>
              <a:rPr lang="en-US" sz="1200" dirty="0"/>
              <a:t>→ slightly </a:t>
            </a:r>
            <a:r>
              <a:rPr lang="en-US" sz="1200" b="1" dirty="0">
                <a:solidFill>
                  <a:srgbClr val="00B050"/>
                </a:solidFill>
              </a:rPr>
              <a:t>higher average rating.</a:t>
            </a:r>
          </a:p>
          <a:p>
            <a:pPr algn="ctr"/>
            <a:r>
              <a:rPr lang="en-US" sz="1200" i="1" dirty="0"/>
              <a:t>Possibly more trustworthy products receive better feedback.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D2828-17E2-AD24-A3E0-D604CAE01B1E}"/>
              </a:ext>
            </a:extLst>
          </p:cNvPr>
          <p:cNvSpPr txBox="1"/>
          <p:nvPr/>
        </p:nvSpPr>
        <p:spPr>
          <a:xfrm>
            <a:off x="7915578" y="997530"/>
            <a:ext cx="9590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1.0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BC9E8-8AC7-1E66-D40C-C9FCD93AE175}"/>
              </a:ext>
            </a:extLst>
          </p:cNvPr>
          <p:cNvSpPr txBox="1"/>
          <p:nvPr/>
        </p:nvSpPr>
        <p:spPr>
          <a:xfrm>
            <a:off x="7915578" y="2868172"/>
            <a:ext cx="9590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0.14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DAC550AE-27CA-6C1A-BCAF-6CF14FF94207}"/>
              </a:ext>
            </a:extLst>
          </p:cNvPr>
          <p:cNvSpPr/>
          <p:nvPr/>
        </p:nvSpPr>
        <p:spPr>
          <a:xfrm>
            <a:off x="6058098" y="3647103"/>
            <a:ext cx="2175423" cy="72586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400" dirty="0">
                <a:solidFill>
                  <a:schemeClr val="tx1"/>
                </a:solidFill>
              </a:rPr>
              <a:t>Final Discounted Price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vs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Purchase count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E9BD36-EB4F-E1DA-3906-0FF6616B749A}"/>
              </a:ext>
            </a:extLst>
          </p:cNvPr>
          <p:cNvSpPr txBox="1"/>
          <p:nvPr/>
        </p:nvSpPr>
        <p:spPr>
          <a:xfrm>
            <a:off x="8110174" y="3779202"/>
            <a:ext cx="9590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-0.15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16CBC9-ED86-CADF-C06D-5D7F3CCF86DB}"/>
              </a:ext>
            </a:extLst>
          </p:cNvPr>
          <p:cNvSpPr txBox="1"/>
          <p:nvPr/>
        </p:nvSpPr>
        <p:spPr>
          <a:xfrm>
            <a:off x="8910577" y="3871534"/>
            <a:ext cx="3281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Lower-priced items </a:t>
            </a:r>
            <a:r>
              <a:rPr lang="en-US" sz="1200" dirty="0"/>
              <a:t>are </a:t>
            </a:r>
            <a:r>
              <a:rPr lang="en-US" sz="1200" b="1" dirty="0">
                <a:solidFill>
                  <a:srgbClr val="00B050"/>
                </a:solidFill>
              </a:rPr>
              <a:t>bought more often.</a:t>
            </a:r>
            <a:endParaRPr lang="en-US" sz="1200" b="1" i="1" dirty="0">
              <a:solidFill>
                <a:srgbClr val="00B050"/>
              </a:solidFill>
            </a:endParaRP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21354873-6482-4DB4-4981-9C75D8989E5C}"/>
              </a:ext>
            </a:extLst>
          </p:cNvPr>
          <p:cNvSpPr/>
          <p:nvPr/>
        </p:nvSpPr>
        <p:spPr>
          <a:xfrm>
            <a:off x="6077146" y="4675526"/>
            <a:ext cx="2175423" cy="72586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400" dirty="0">
                <a:solidFill>
                  <a:schemeClr val="tx1"/>
                </a:solidFill>
              </a:rPr>
              <a:t>Discount Percentage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vs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Rating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2A3B41-9DDA-8561-3850-317708B88184}"/>
              </a:ext>
            </a:extLst>
          </p:cNvPr>
          <p:cNvSpPr txBox="1"/>
          <p:nvPr/>
        </p:nvSpPr>
        <p:spPr>
          <a:xfrm>
            <a:off x="8135783" y="4807626"/>
            <a:ext cx="9590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-0.17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FF1A42-6624-FE73-FD87-95242C058A82}"/>
              </a:ext>
            </a:extLst>
          </p:cNvPr>
          <p:cNvSpPr txBox="1"/>
          <p:nvPr/>
        </p:nvSpPr>
        <p:spPr>
          <a:xfrm>
            <a:off x="8910577" y="4708818"/>
            <a:ext cx="3281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Higher discounts </a:t>
            </a:r>
            <a:r>
              <a:rPr lang="en-US" sz="1200" dirty="0"/>
              <a:t>slightly correlate with </a:t>
            </a:r>
            <a:r>
              <a:rPr lang="en-US" sz="1200" dirty="0">
                <a:solidFill>
                  <a:srgbClr val="FF0000"/>
                </a:solidFill>
              </a:rPr>
              <a:t>lower product ratings.</a:t>
            </a:r>
          </a:p>
          <a:p>
            <a:pPr algn="ctr"/>
            <a:r>
              <a:rPr lang="en-US" sz="1200" i="1" dirty="0"/>
              <a:t>Heavily discounted products may compromise quality.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D540ABD0-EBCC-8FB8-61B4-921EF420AC1F}"/>
              </a:ext>
            </a:extLst>
          </p:cNvPr>
          <p:cNvSpPr/>
          <p:nvPr/>
        </p:nvSpPr>
        <p:spPr>
          <a:xfrm>
            <a:off x="6105231" y="5703949"/>
            <a:ext cx="2175423" cy="72586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400" dirty="0">
                <a:solidFill>
                  <a:schemeClr val="tx1"/>
                </a:solidFill>
              </a:rPr>
              <a:t>Review count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vs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Final Discounted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FFD20C-ABB0-A21A-AA18-2B5B93210915}"/>
              </a:ext>
            </a:extLst>
          </p:cNvPr>
          <p:cNvSpPr txBox="1"/>
          <p:nvPr/>
        </p:nvSpPr>
        <p:spPr>
          <a:xfrm>
            <a:off x="8271423" y="5836048"/>
            <a:ext cx="9590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-0.15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F7BB2C-49B3-BBBA-DB50-3C79E27B2B64}"/>
              </a:ext>
            </a:extLst>
          </p:cNvPr>
          <p:cNvSpPr txBox="1"/>
          <p:nvPr/>
        </p:nvSpPr>
        <p:spPr>
          <a:xfrm>
            <a:off x="9069212" y="5948265"/>
            <a:ext cx="3281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Cheaper price </a:t>
            </a:r>
            <a:r>
              <a:rPr lang="en-US" sz="1200" dirty="0"/>
              <a:t>tends to have </a:t>
            </a:r>
            <a:r>
              <a:rPr lang="en-US" sz="1200" b="1" dirty="0">
                <a:solidFill>
                  <a:srgbClr val="00B050"/>
                </a:solidFill>
              </a:rPr>
              <a:t>more reviews</a:t>
            </a:r>
            <a:endParaRPr lang="en-US" sz="1200" b="1" i="1" dirty="0">
              <a:solidFill>
                <a:srgbClr val="00B050"/>
              </a:solidFill>
            </a:endParaRP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2F7ECBAF-D88C-A71B-DF0D-71AE5F22791A}"/>
              </a:ext>
            </a:extLst>
          </p:cNvPr>
          <p:cNvSpPr/>
          <p:nvPr/>
        </p:nvSpPr>
        <p:spPr>
          <a:xfrm>
            <a:off x="6251408" y="2712299"/>
            <a:ext cx="1664169" cy="725864"/>
          </a:xfrm>
          <a:prstGeom prst="homePlat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400" dirty="0">
                <a:solidFill>
                  <a:schemeClr val="tx1"/>
                </a:solidFill>
              </a:rPr>
              <a:t>Rating count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vs </a:t>
            </a:r>
          </a:p>
          <a:p>
            <a:pPr algn="ctr"/>
            <a:r>
              <a:rPr lang="en-TH" sz="1400" dirty="0">
                <a:solidFill>
                  <a:schemeClr val="tx1"/>
                </a:solidFill>
              </a:rPr>
              <a:t>Rating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003FE-7B0A-348E-BAC5-26085B18D972}"/>
              </a:ext>
            </a:extLst>
          </p:cNvPr>
          <p:cNvSpPr txBox="1"/>
          <p:nvPr/>
        </p:nvSpPr>
        <p:spPr>
          <a:xfrm>
            <a:off x="7915578" y="1893853"/>
            <a:ext cx="95903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6"/>
                </a:solidFill>
                <a:cs typeface="Arial" pitchFamily="34" charset="0"/>
              </a:rPr>
              <a:t>0.038</a:t>
            </a:r>
            <a:endParaRPr lang="ko-KR" altLang="en-US" sz="2400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699792-4016-D535-9F46-8D3C7E5FF637}"/>
              </a:ext>
            </a:extLst>
          </p:cNvPr>
          <p:cNvSpPr txBox="1"/>
          <p:nvPr/>
        </p:nvSpPr>
        <p:spPr>
          <a:xfrm>
            <a:off x="8615302" y="1872890"/>
            <a:ext cx="3281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H" sz="1200" b="1" dirty="0"/>
              <a:t>Slightly positive correlation </a:t>
            </a:r>
          </a:p>
          <a:p>
            <a:pPr algn="ctr"/>
            <a:r>
              <a:rPr lang="en-US" sz="1200" i="1" dirty="0"/>
              <a:t>a very minor tendency for </a:t>
            </a:r>
            <a:r>
              <a:rPr lang="en-US" sz="1200" b="1" i="1" dirty="0">
                <a:solidFill>
                  <a:srgbClr val="00B050"/>
                </a:solidFill>
              </a:rPr>
              <a:t>higher-rated </a:t>
            </a:r>
            <a:r>
              <a:rPr lang="en-US" sz="1200" i="1" dirty="0"/>
              <a:t>products to be </a:t>
            </a:r>
            <a:r>
              <a:rPr lang="en-US" sz="1200" b="1" i="1" dirty="0"/>
              <a:t>purchased more</a:t>
            </a:r>
            <a:r>
              <a:rPr lang="en-US" sz="1200" i="1" dirty="0"/>
              <a:t>.</a:t>
            </a:r>
            <a:endParaRPr lang="en-TH" sz="1200" i="1" dirty="0"/>
          </a:p>
        </p:txBody>
      </p:sp>
    </p:spTree>
    <p:extLst>
      <p:ext uri="{BB962C8B-B14F-4D97-AF65-F5344CB8AC3E}">
        <p14:creationId xmlns:p14="http://schemas.microsoft.com/office/powerpoint/2010/main" val="759052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E3EC9D-5278-2757-0209-C751E14B5E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979" y="621864"/>
            <a:ext cx="11573197" cy="724247"/>
          </a:xfrm>
        </p:spPr>
        <p:txBody>
          <a:bodyPr/>
          <a:lstStyle/>
          <a:p>
            <a:r>
              <a:rPr lang="en-US" sz="3000" dirty="0"/>
              <a:t>Key Insights for Product &amp; Feature Correlation</a:t>
            </a:r>
            <a:endParaRPr lang="en-TH" sz="3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55702E-F6C3-C908-6167-109F362D2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386117"/>
              </p:ext>
            </p:extLst>
          </p:nvPr>
        </p:nvGraphicFramePr>
        <p:xfrm>
          <a:off x="1235686" y="2627899"/>
          <a:ext cx="10067052" cy="1965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684">
                  <a:extLst>
                    <a:ext uri="{9D8B030D-6E8A-4147-A177-3AD203B41FA5}">
                      <a16:colId xmlns:a16="http://schemas.microsoft.com/office/drawing/2014/main" val="643042088"/>
                    </a:ext>
                  </a:extLst>
                </a:gridCol>
                <a:gridCol w="3355684">
                  <a:extLst>
                    <a:ext uri="{9D8B030D-6E8A-4147-A177-3AD203B41FA5}">
                      <a16:colId xmlns:a16="http://schemas.microsoft.com/office/drawing/2014/main" val="1048755290"/>
                    </a:ext>
                  </a:extLst>
                </a:gridCol>
                <a:gridCol w="3355684">
                  <a:extLst>
                    <a:ext uri="{9D8B030D-6E8A-4147-A177-3AD203B41FA5}">
                      <a16:colId xmlns:a16="http://schemas.microsoft.com/office/drawing/2014/main" val="4175813117"/>
                    </a:ext>
                  </a:extLst>
                </a:gridCol>
              </a:tblGrid>
              <a:tr h="410654">
                <a:tc>
                  <a:txBody>
                    <a:bodyPr/>
                    <a:lstStyle/>
                    <a:p>
                      <a:pPr algn="ctr"/>
                      <a:r>
                        <a:rPr lang="en-TH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dirty="0"/>
                        <a:t>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375968"/>
                  </a:ext>
                </a:extLst>
              </a:tr>
              <a:tr h="410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Discount % vs Rating</a:t>
                      </a:r>
                      <a:endParaRPr lang="en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Higher discounts slightly →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lower ratings</a:t>
                      </a:r>
                      <a:endParaRPr lang="en-TH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 discounts carefully to avoid cheapening perceived quality</a:t>
                      </a:r>
                      <a:endParaRPr lang="en-T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278505"/>
                  </a:ext>
                </a:extLst>
              </a:tr>
              <a:tr h="410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 Count vs Price</a:t>
                      </a:r>
                      <a:endParaRPr lang="en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Lower-priced items bought more</a:t>
                      </a:r>
                      <a:endParaRPr lang="en-TH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Bundle or upsell to increase order size</a:t>
                      </a:r>
                      <a:endParaRPr lang="en-TH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710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49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693269-5CEC-64DB-0F0E-458161B195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51593"/>
            <a:ext cx="11573197" cy="724247"/>
          </a:xfrm>
        </p:spPr>
        <p:txBody>
          <a:bodyPr/>
          <a:lstStyle/>
          <a:p>
            <a:r>
              <a:rPr lang="en-TH" sz="3200" dirty="0"/>
              <a:t>Top 3 categories by total discounted revenue &amp; actual revenue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3E4F499-9B74-A1A9-7E3F-A0C10B5A2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944819"/>
            <a:ext cx="10893110" cy="47286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6D04D2-8554-4917-B667-06B9B886C356}"/>
              </a:ext>
            </a:extLst>
          </p:cNvPr>
          <p:cNvSpPr txBox="1"/>
          <p:nvPr/>
        </p:nvSpPr>
        <p:spPr>
          <a:xfrm>
            <a:off x="1003616" y="1785318"/>
            <a:ext cx="3246167" cy="34659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A41BBF-50F5-B4E3-91A8-3E51AB67A12E}"/>
              </a:ext>
            </a:extLst>
          </p:cNvPr>
          <p:cNvSpPr txBox="1"/>
          <p:nvPr/>
        </p:nvSpPr>
        <p:spPr>
          <a:xfrm>
            <a:off x="923103" y="5420248"/>
            <a:ext cx="426720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Revenue before discount</a:t>
            </a:r>
          </a:p>
          <a:p>
            <a:pPr algn="ctr"/>
            <a:r>
              <a:rPr lang="en-US" b="1" dirty="0"/>
              <a:t>Electronics</a:t>
            </a:r>
            <a:r>
              <a:rPr lang="en-US" dirty="0"/>
              <a:t> – </a:t>
            </a:r>
            <a:r>
              <a:rPr lang="en-TH" dirty="0"/>
              <a:t>₹36.9</a:t>
            </a:r>
            <a:r>
              <a:rPr lang="en-US" dirty="0"/>
              <a:t>M</a:t>
            </a:r>
          </a:p>
          <a:p>
            <a:pPr algn="ctr"/>
            <a:r>
              <a:rPr lang="en-US" b="1" dirty="0"/>
              <a:t>Home &amp; Kitchen</a:t>
            </a:r>
            <a:r>
              <a:rPr lang="en-US" dirty="0"/>
              <a:t> – </a:t>
            </a:r>
            <a:r>
              <a:rPr lang="en-TH" dirty="0"/>
              <a:t>₹25.9</a:t>
            </a:r>
            <a:r>
              <a:rPr lang="en-US" dirty="0"/>
              <a:t>M</a:t>
            </a:r>
          </a:p>
          <a:p>
            <a:pPr algn="ctr"/>
            <a:r>
              <a:rPr lang="en-US" b="1" dirty="0"/>
              <a:t>Computers &amp; Accessories</a:t>
            </a:r>
            <a:r>
              <a:rPr lang="en-US" dirty="0"/>
              <a:t> – </a:t>
            </a:r>
            <a:r>
              <a:rPr lang="en-TH" dirty="0"/>
              <a:t>₹7.8</a:t>
            </a:r>
            <a:r>
              <a:rPr lang="en-US" dirty="0"/>
              <a:t>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76330-8AF1-4D07-4B09-2762E1A019DB}"/>
              </a:ext>
            </a:extLst>
          </p:cNvPr>
          <p:cNvSpPr txBox="1"/>
          <p:nvPr/>
        </p:nvSpPr>
        <p:spPr>
          <a:xfrm>
            <a:off x="6535777" y="5420248"/>
            <a:ext cx="426720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Net Revenue after discount</a:t>
            </a:r>
          </a:p>
          <a:p>
            <a:pPr algn="ctr"/>
            <a:r>
              <a:rPr lang="en-US" b="1" dirty="0"/>
              <a:t>Electronics</a:t>
            </a:r>
            <a:r>
              <a:rPr lang="en-US" dirty="0"/>
              <a:t> – </a:t>
            </a:r>
            <a:r>
              <a:rPr lang="en-TH" dirty="0"/>
              <a:t>₹13.1</a:t>
            </a:r>
            <a:r>
              <a:rPr lang="en-US" dirty="0"/>
              <a:t>M</a:t>
            </a:r>
          </a:p>
          <a:p>
            <a:pPr algn="ctr"/>
            <a:r>
              <a:rPr lang="en-US" b="1" dirty="0"/>
              <a:t>Home &amp; Kitchen</a:t>
            </a:r>
            <a:r>
              <a:rPr lang="en-US" dirty="0"/>
              <a:t> – </a:t>
            </a:r>
            <a:r>
              <a:rPr lang="en-TH" dirty="0"/>
              <a:t>₹8.1</a:t>
            </a:r>
            <a:r>
              <a:rPr lang="en-US" dirty="0"/>
              <a:t>M</a:t>
            </a:r>
          </a:p>
          <a:p>
            <a:pPr algn="ctr"/>
            <a:r>
              <a:rPr lang="en-US" b="1" dirty="0"/>
              <a:t>Computers &amp; Accessories</a:t>
            </a:r>
            <a:r>
              <a:rPr lang="en-US" dirty="0"/>
              <a:t> – </a:t>
            </a:r>
            <a:r>
              <a:rPr lang="en-TH" dirty="0"/>
              <a:t>₹2.6</a:t>
            </a:r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211420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369B3-FFFB-019D-2485-A3B8164A40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-7338"/>
            <a:ext cx="11573197" cy="724247"/>
          </a:xfrm>
        </p:spPr>
        <p:txBody>
          <a:bodyPr/>
          <a:lstStyle/>
          <a:p>
            <a:r>
              <a:rPr lang="en-TH" sz="3000" dirty="0"/>
              <a:t>AOV comparing to Industry’s AOV in 2019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F4781-C454-DDD4-EACE-7C3A4FA1FDFC}"/>
              </a:ext>
            </a:extLst>
          </p:cNvPr>
          <p:cNvSpPr txBox="1"/>
          <p:nvPr/>
        </p:nvSpPr>
        <p:spPr>
          <a:xfrm>
            <a:off x="9639665" y="6566074"/>
            <a:ext cx="324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sz="1100" dirty="0"/>
              <a:t>Data source : Perplexity ”figure1,2”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3E34933-58DA-C2AF-8318-27A1C1032A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120358"/>
              </p:ext>
            </p:extLst>
          </p:nvPr>
        </p:nvGraphicFramePr>
        <p:xfrm>
          <a:off x="1301262" y="716909"/>
          <a:ext cx="9100038" cy="5215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CD5EEA-9BC7-4771-77C0-F77824B96C17}"/>
              </a:ext>
            </a:extLst>
          </p:cNvPr>
          <p:cNvSpPr txBox="1"/>
          <p:nvPr/>
        </p:nvSpPr>
        <p:spPr>
          <a:xfrm>
            <a:off x="5029200" y="5773549"/>
            <a:ext cx="3938954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b="1" dirty="0">
                <a:solidFill>
                  <a:schemeClr val="bg1"/>
                </a:solidFill>
              </a:rPr>
              <a:t>Electonics’</a:t>
            </a:r>
            <a:r>
              <a:rPr lang="en-TH" dirty="0">
                <a:solidFill>
                  <a:schemeClr val="bg1"/>
                </a:solidFill>
              </a:rPr>
              <a:t>s AOV and </a:t>
            </a:r>
            <a:r>
              <a:rPr lang="en-TH" b="1" dirty="0">
                <a:solidFill>
                  <a:schemeClr val="bg1"/>
                </a:solidFill>
              </a:rPr>
              <a:t>Health care</a:t>
            </a:r>
            <a:r>
              <a:rPr lang="en-TH" dirty="0">
                <a:solidFill>
                  <a:schemeClr val="bg1"/>
                </a:solidFill>
              </a:rPr>
              <a:t>’s AOV </a:t>
            </a:r>
          </a:p>
          <a:p>
            <a:pPr algn="ctr"/>
            <a:r>
              <a:rPr lang="en-TH" dirty="0">
                <a:solidFill>
                  <a:schemeClr val="bg1"/>
                </a:solidFill>
              </a:rPr>
              <a:t>are higher than Industry’s AOV</a:t>
            </a:r>
          </a:p>
        </p:txBody>
      </p:sp>
    </p:spTree>
    <p:extLst>
      <p:ext uri="{BB962C8B-B14F-4D97-AF65-F5344CB8AC3E}">
        <p14:creationId xmlns:p14="http://schemas.microsoft.com/office/powerpoint/2010/main" val="97000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graph of sales&#10;&#10;AI-generated content may be incorrect.">
            <a:extLst>
              <a:ext uri="{FF2B5EF4-FFF2-40B4-BE49-F238E27FC236}">
                <a16:creationId xmlns:a16="http://schemas.microsoft.com/office/drawing/2014/main" id="{FA6525F0-3126-723A-F6E8-BC693A844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0"/>
          <a:stretch>
            <a:fillRect/>
          </a:stretch>
        </p:blipFill>
        <p:spPr>
          <a:xfrm>
            <a:off x="3190939" y="1383575"/>
            <a:ext cx="4662388" cy="324242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2DE37F-849F-AB2F-D628-275A9A14BE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TH" sz="3600" dirty="0"/>
              <a:t>Customer segmentation Overview Top 7 categories by total revenue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2CF16-9597-8ACA-6586-CE54AA26120C}"/>
              </a:ext>
            </a:extLst>
          </p:cNvPr>
          <p:cNvSpPr txBox="1"/>
          <p:nvPr/>
        </p:nvSpPr>
        <p:spPr>
          <a:xfrm>
            <a:off x="103371" y="6427113"/>
            <a:ext cx="555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</a:t>
            </a:r>
            <a:r>
              <a:rPr lang="en-TH" sz="900" dirty="0"/>
              <a:t>ssumption : new user who buy product 1 time at the month we acquired them</a:t>
            </a:r>
          </a:p>
          <a:p>
            <a:r>
              <a:rPr lang="en-TH" sz="900" dirty="0"/>
              <a:t>Recurring : user who buy products more than 1 time during the lifetime</a:t>
            </a:r>
          </a:p>
        </p:txBody>
      </p:sp>
      <p:pic>
        <p:nvPicPr>
          <p:cNvPr id="10" name="Picture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4AC828E-AFB0-D5C8-6D62-867D2CC2D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5146"/>
          <a:stretch>
            <a:fillRect/>
          </a:stretch>
        </p:blipFill>
        <p:spPr>
          <a:xfrm>
            <a:off x="7714652" y="1043536"/>
            <a:ext cx="277349" cy="37789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561753-FD30-1BFA-35DE-2D53E520FDCF}"/>
              </a:ext>
            </a:extLst>
          </p:cNvPr>
          <p:cNvSpPr txBox="1"/>
          <p:nvPr/>
        </p:nvSpPr>
        <p:spPr>
          <a:xfrm>
            <a:off x="3431177" y="1288897"/>
            <a:ext cx="4365268" cy="27699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sz="1200" dirty="0"/>
              <a:t>Total New VS Recurring customers by category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9260E5-A71D-49F4-7D2B-3F4F2C04C76A}"/>
              </a:ext>
            </a:extLst>
          </p:cNvPr>
          <p:cNvSpPr txBox="1"/>
          <p:nvPr/>
        </p:nvSpPr>
        <p:spPr>
          <a:xfrm>
            <a:off x="7582370" y="4743589"/>
            <a:ext cx="45458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1200" b="1" dirty="0"/>
              <a:t>Recurring customers spend more</a:t>
            </a:r>
          </a:p>
          <a:p>
            <a:pPr algn="ctr"/>
            <a:br>
              <a:rPr lang="en-US" sz="1200" dirty="0"/>
            </a:br>
            <a:r>
              <a:rPr lang="en-US" sz="1200" dirty="0"/>
              <a:t>Average Order Value for recurring buyers is </a:t>
            </a:r>
            <a:r>
              <a:rPr lang="en-US" sz="1200" b="1" dirty="0"/>
              <a:t>highest in </a:t>
            </a:r>
            <a:r>
              <a:rPr lang="en-US" sz="1200" b="1" dirty="0">
                <a:highlight>
                  <a:srgbClr val="FFFF00"/>
                </a:highlight>
              </a:rPr>
              <a:t>Electronics</a:t>
            </a:r>
            <a:r>
              <a:rPr lang="en-US" sz="1200" b="1" dirty="0"/>
              <a:t> (₹5,070)</a:t>
            </a:r>
            <a:r>
              <a:rPr lang="en-US" sz="1200" dirty="0"/>
              <a:t> and </a:t>
            </a:r>
            <a:r>
              <a:rPr lang="en-US" sz="1200" b="1" dirty="0" err="1">
                <a:highlight>
                  <a:srgbClr val="FFFF00"/>
                </a:highlight>
              </a:rPr>
              <a:t>Home&amp;Kitchen</a:t>
            </a:r>
            <a:r>
              <a:rPr lang="en-US" sz="1200" b="1" dirty="0">
                <a:highlight>
                  <a:srgbClr val="FFFF00"/>
                </a:highlight>
              </a:rPr>
              <a:t> </a:t>
            </a:r>
            <a:r>
              <a:rPr lang="en-US" sz="1200" b="1" dirty="0"/>
              <a:t>(₹ 2,392)</a:t>
            </a:r>
            <a:r>
              <a:rPr lang="en-US" sz="1200" dirty="0"/>
              <a:t> and </a:t>
            </a:r>
            <a:r>
              <a:rPr lang="en-US" sz="1200" b="1" dirty="0"/>
              <a:t>Computers &amp; Accessories AOV: </a:t>
            </a:r>
            <a:r>
              <a:rPr lang="en-TH" sz="1200" b="1" dirty="0"/>
              <a:t>₹959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: way more than 1-time buyers. This makes them high-value segments to retain.</a:t>
            </a:r>
          </a:p>
          <a:p>
            <a:endParaRPr lang="en-T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0C68B-F600-7FA7-75BE-569BCE291446}"/>
              </a:ext>
            </a:extLst>
          </p:cNvPr>
          <p:cNvSpPr txBox="1"/>
          <p:nvPr/>
        </p:nvSpPr>
        <p:spPr>
          <a:xfrm>
            <a:off x="12979" y="4922772"/>
            <a:ext cx="343117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Most buyers are 1-time only</a:t>
            </a:r>
          </a:p>
          <a:p>
            <a:pPr algn="ctr"/>
            <a:br>
              <a:rPr lang="en-US" sz="1200" dirty="0"/>
            </a:br>
            <a:r>
              <a:rPr lang="en-US" sz="1200" dirty="0"/>
              <a:t>Out of 9,050 total users, only 305 came back. That’s a </a:t>
            </a:r>
            <a:r>
              <a:rPr lang="en-US" sz="1200" b="1" dirty="0"/>
              <a:t>recurring rate of ~3.37%</a:t>
            </a:r>
            <a:r>
              <a:rPr lang="en-US" sz="1200" dirty="0"/>
              <a:t>, so there’s room to improve retention.</a:t>
            </a:r>
          </a:p>
          <a:p>
            <a:endParaRPr lang="en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C0213-9A4B-AFEA-A6CE-0445C070286A}"/>
              </a:ext>
            </a:extLst>
          </p:cNvPr>
          <p:cNvSpPr txBox="1"/>
          <p:nvPr/>
        </p:nvSpPr>
        <p:spPr>
          <a:xfrm>
            <a:off x="3307450" y="4926391"/>
            <a:ext cx="4545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highlight>
                  <a:srgbClr val="FFFF00"/>
                </a:highlight>
              </a:rPr>
              <a:t>Electronics &amp; Computers </a:t>
            </a:r>
            <a:r>
              <a:rPr lang="en-US" sz="1200" b="1" dirty="0"/>
              <a:t>categories lead for </a:t>
            </a:r>
            <a:r>
              <a:rPr lang="en-US" sz="1200" b="1" u="sng" dirty="0"/>
              <a:t>repeat customers</a:t>
            </a:r>
          </a:p>
          <a:p>
            <a:pPr algn="ctr"/>
            <a:br>
              <a:rPr lang="en-US" sz="1200" dirty="0"/>
            </a:br>
            <a:r>
              <a:rPr lang="en-US" sz="1200" dirty="0"/>
              <a:t>These two categories bring in the most recurring users — especially </a:t>
            </a:r>
            <a:r>
              <a:rPr lang="en-US" sz="1200" b="1" dirty="0"/>
              <a:t>Electronics</a:t>
            </a:r>
            <a:r>
              <a:rPr lang="en-US" sz="1200" dirty="0"/>
              <a:t>, which stands out in both </a:t>
            </a:r>
            <a:r>
              <a:rPr lang="en-US" sz="1200" b="1" dirty="0">
                <a:solidFill>
                  <a:srgbClr val="00B050"/>
                </a:solidFill>
              </a:rPr>
              <a:t>volume and spend.</a:t>
            </a:r>
            <a:endParaRPr lang="en-TH" sz="1200" b="1" dirty="0">
              <a:solidFill>
                <a:srgbClr val="00B050"/>
              </a:solidFill>
            </a:endParaRPr>
          </a:p>
        </p:txBody>
      </p:sp>
      <p:pic>
        <p:nvPicPr>
          <p:cNvPr id="21" name="Picture 2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1131F7A-39BA-4B5F-9447-40D9B744E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7" t="19958" r="51975" b="598"/>
          <a:stretch>
            <a:fillRect/>
          </a:stretch>
        </p:blipFill>
        <p:spPr>
          <a:xfrm>
            <a:off x="9728803" y="1822593"/>
            <a:ext cx="2399443" cy="2920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DBAC265-C776-3780-6EE5-0D46B478976C}"/>
              </a:ext>
            </a:extLst>
          </p:cNvPr>
          <p:cNvSpPr/>
          <p:nvPr/>
        </p:nvSpPr>
        <p:spPr>
          <a:xfrm>
            <a:off x="5824164" y="3512948"/>
            <a:ext cx="527769" cy="947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89146D-98DF-8E01-0BF1-FF3755CCDBC5}"/>
              </a:ext>
            </a:extLst>
          </p:cNvPr>
          <p:cNvSpPr/>
          <p:nvPr/>
        </p:nvSpPr>
        <p:spPr>
          <a:xfrm>
            <a:off x="10366972" y="1931609"/>
            <a:ext cx="779999" cy="2621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A761F2A-D026-580B-D5C2-E2C6A1E47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2" t="8669" r="13681" b="81743"/>
          <a:stretch>
            <a:fillRect/>
          </a:stretch>
        </p:blipFill>
        <p:spPr>
          <a:xfrm>
            <a:off x="8083213" y="1525730"/>
            <a:ext cx="3971723" cy="362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765874-8655-BDFE-8621-9BF5BCAB38AB}"/>
              </a:ext>
            </a:extLst>
          </p:cNvPr>
          <p:cNvSpPr txBox="1"/>
          <p:nvPr/>
        </p:nvSpPr>
        <p:spPr>
          <a:xfrm>
            <a:off x="7796445" y="1280882"/>
            <a:ext cx="4258492" cy="27699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sz="1200" dirty="0"/>
              <a:t>AOV by New VS Recurring customers by category</a:t>
            </a:r>
          </a:p>
        </p:txBody>
      </p:sp>
      <p:pic>
        <p:nvPicPr>
          <p:cNvPr id="29" name="Picture 2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6E431F5-163A-2FFF-F0C0-C1EF2DCEF8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17" t="17585" r="14146"/>
          <a:stretch>
            <a:fillRect/>
          </a:stretch>
        </p:blipFill>
        <p:spPr>
          <a:xfrm>
            <a:off x="8114158" y="1882193"/>
            <a:ext cx="1604520" cy="289773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24A3BD9-72BD-302E-DA2C-6ED7BD85B75F}"/>
              </a:ext>
            </a:extLst>
          </p:cNvPr>
          <p:cNvSpPr/>
          <p:nvPr/>
        </p:nvSpPr>
        <p:spPr>
          <a:xfrm>
            <a:off x="8126010" y="1931609"/>
            <a:ext cx="732698" cy="26210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324121-60A9-487E-E79B-CA9AEFA87D08}"/>
              </a:ext>
            </a:extLst>
          </p:cNvPr>
          <p:cNvSpPr txBox="1"/>
          <p:nvPr/>
        </p:nvSpPr>
        <p:spPr>
          <a:xfrm>
            <a:off x="53434" y="1306624"/>
            <a:ext cx="3366870" cy="3465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918BB7-981C-938D-7E05-1EC6E2AD83B2}"/>
              </a:ext>
            </a:extLst>
          </p:cNvPr>
          <p:cNvSpPr txBox="1"/>
          <p:nvPr/>
        </p:nvSpPr>
        <p:spPr>
          <a:xfrm>
            <a:off x="3421052" y="1271810"/>
            <a:ext cx="4308548" cy="3465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20E0E8-DAB8-E60F-130A-00F7BABC8CD9}"/>
              </a:ext>
            </a:extLst>
          </p:cNvPr>
          <p:cNvSpPr txBox="1"/>
          <p:nvPr/>
        </p:nvSpPr>
        <p:spPr>
          <a:xfrm>
            <a:off x="7731096" y="1280882"/>
            <a:ext cx="4323840" cy="34659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pic>
        <p:nvPicPr>
          <p:cNvPr id="37" name="Picture 36" descr="A screenshot of a graph&#10;&#10;AI-generated content may be incorrect.">
            <a:extLst>
              <a:ext uri="{FF2B5EF4-FFF2-40B4-BE49-F238E27FC236}">
                <a16:creationId xmlns:a16="http://schemas.microsoft.com/office/drawing/2014/main" id="{26505D56-0164-200F-13A4-908A6AEC82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8" y="1459417"/>
            <a:ext cx="3270923" cy="31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1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AA506A-981E-F8A4-59A3-F0B4421F6E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454444" y="38661"/>
            <a:ext cx="13232863" cy="1042987"/>
          </a:xfrm>
        </p:spPr>
        <p:txBody>
          <a:bodyPr/>
          <a:lstStyle/>
          <a:p>
            <a:r>
              <a:rPr lang="en-TH" sz="3000" b="1" dirty="0"/>
              <a:t>Electronic products </a:t>
            </a:r>
            <a:r>
              <a:rPr lang="en-TH" sz="3000" dirty="0"/>
              <a:t>: correlation discount% vs AOV  </a:t>
            </a:r>
          </a:p>
          <a:p>
            <a:r>
              <a:rPr lang="en-TH" sz="3000" dirty="0"/>
              <a:t>and purchased days vs Avg product’s rating for</a:t>
            </a:r>
          </a:p>
        </p:txBody>
      </p:sp>
      <p:pic>
        <p:nvPicPr>
          <p:cNvPr id="3" name="Picture 2" descr="A graph with blue circles&#10;&#10;AI-generated content may be incorrect.">
            <a:extLst>
              <a:ext uri="{FF2B5EF4-FFF2-40B4-BE49-F238E27FC236}">
                <a16:creationId xmlns:a16="http://schemas.microsoft.com/office/drawing/2014/main" id="{A3B263D3-4FD1-81E3-4F4A-46941D656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62" y="1442041"/>
            <a:ext cx="3725953" cy="22202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B8931-A18B-C2E1-6E99-FB287499BFB2}"/>
              </a:ext>
            </a:extLst>
          </p:cNvPr>
          <p:cNvSpPr txBox="1"/>
          <p:nvPr/>
        </p:nvSpPr>
        <p:spPr>
          <a:xfrm>
            <a:off x="0" y="3907356"/>
            <a:ext cx="41679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- </a:t>
            </a:r>
            <a:r>
              <a:rPr lang="en-US" sz="1100" b="1" u="sng" dirty="0">
                <a:highlight>
                  <a:srgbClr val="FFFF00"/>
                </a:highlight>
              </a:rPr>
              <a:t>Most users</a:t>
            </a:r>
            <a:r>
              <a:rPr lang="en-US" sz="1100" b="1" dirty="0"/>
              <a:t> </a:t>
            </a:r>
            <a:r>
              <a:rPr lang="en-US" sz="1100" dirty="0"/>
              <a:t>get </a:t>
            </a:r>
            <a:r>
              <a:rPr lang="en-US" sz="1100" b="1" dirty="0"/>
              <a:t>high discounts (70–100%)</a:t>
            </a:r>
            <a:r>
              <a:rPr lang="en-US" sz="1100" dirty="0"/>
              <a:t> but have </a:t>
            </a:r>
            <a:r>
              <a:rPr lang="en-US" sz="1100" b="1" dirty="0"/>
              <a:t>low AOV (&lt; </a:t>
            </a:r>
            <a:r>
              <a:rPr lang="en-TH" sz="1100" b="1" dirty="0"/>
              <a:t>₹5</a:t>
            </a:r>
            <a:r>
              <a:rPr lang="en-US" sz="1100" b="1" dirty="0"/>
              <a:t>K)</a:t>
            </a:r>
            <a:endParaRPr lang="en-US" sz="1100" dirty="0"/>
          </a:p>
          <a:p>
            <a:pPr algn="ctr"/>
            <a:r>
              <a:rPr lang="en-US" sz="1100" dirty="0"/>
              <a:t>- </a:t>
            </a:r>
            <a:r>
              <a:rPr lang="en-US" sz="1100" b="1" u="sng" dirty="0">
                <a:highlight>
                  <a:srgbClr val="FFFF00"/>
                </a:highlight>
              </a:rPr>
              <a:t>High spenders</a:t>
            </a:r>
            <a:r>
              <a:rPr lang="en-US" sz="1100" b="1" dirty="0"/>
              <a:t> </a:t>
            </a:r>
            <a:r>
              <a:rPr lang="en-US" sz="1100" dirty="0"/>
              <a:t>(</a:t>
            </a:r>
            <a:r>
              <a:rPr lang="en-TH" sz="1100" dirty="0"/>
              <a:t>₹10</a:t>
            </a:r>
            <a:r>
              <a:rPr lang="en-US" sz="1100" dirty="0"/>
              <a:t>K–</a:t>
            </a:r>
            <a:r>
              <a:rPr lang="en-TH" sz="1100" dirty="0"/>
              <a:t>₹12</a:t>
            </a:r>
            <a:r>
              <a:rPr lang="en-US" sz="1100" dirty="0"/>
              <a:t>K) usually get </a:t>
            </a:r>
            <a:r>
              <a:rPr lang="en-US" sz="1100" b="1" dirty="0"/>
              <a:t>lower discounts (50–60%)</a:t>
            </a:r>
          </a:p>
          <a:p>
            <a:pPr algn="ctr"/>
            <a:endParaRPr lang="en-US" sz="1100" dirty="0"/>
          </a:p>
          <a:p>
            <a:pPr algn="ctr"/>
            <a:r>
              <a:rPr lang="en-US" sz="1100" b="1" dirty="0"/>
              <a:t>Observation: </a:t>
            </a:r>
            <a:r>
              <a:rPr lang="en-US" sz="1100" b="1" i="1" dirty="0"/>
              <a:t>We might give big discounts to low spenders</a:t>
            </a:r>
            <a:r>
              <a:rPr lang="en-US" sz="1100" i="1" dirty="0"/>
              <a:t>, while top spenders don’t need much incentive</a:t>
            </a:r>
          </a:p>
          <a:p>
            <a:pPr algn="ctr"/>
            <a:endParaRPr lang="en-US" sz="1100" dirty="0"/>
          </a:p>
          <a:p>
            <a:pPr algn="ctr"/>
            <a:endParaRPr lang="en-US" sz="1100" dirty="0"/>
          </a:p>
        </p:txBody>
      </p:sp>
      <p:pic>
        <p:nvPicPr>
          <p:cNvPr id="11" name="Picture 10" descr="A graph with blue circles&#10;&#10;AI-generated content may be incorrect.">
            <a:extLst>
              <a:ext uri="{FF2B5EF4-FFF2-40B4-BE49-F238E27FC236}">
                <a16:creationId xmlns:a16="http://schemas.microsoft.com/office/drawing/2014/main" id="{1E6AD1A3-19A0-6599-C859-DDCA031DD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765" y="4247576"/>
            <a:ext cx="3670300" cy="2514600"/>
          </a:xfrm>
          <a:prstGeom prst="rect">
            <a:avLst/>
          </a:prstGeom>
        </p:spPr>
      </p:pic>
      <p:pic>
        <p:nvPicPr>
          <p:cNvPr id="13" name="Picture 12" descr="A graph of a number of orange rectangular objects&#10;&#10;AI-generated content may be incorrect.">
            <a:extLst>
              <a:ext uri="{FF2B5EF4-FFF2-40B4-BE49-F238E27FC236}">
                <a16:creationId xmlns:a16="http://schemas.microsoft.com/office/drawing/2014/main" id="{F3E3D435-2636-26E7-73E1-A2458D1803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596" y="1451188"/>
            <a:ext cx="3163426" cy="2242659"/>
          </a:xfrm>
          <a:prstGeom prst="rect">
            <a:avLst/>
          </a:prstGeom>
        </p:spPr>
      </p:pic>
      <p:pic>
        <p:nvPicPr>
          <p:cNvPr id="15" name="Picture 14" descr="A graph of a number of orange rectangular objects&#10;&#10;AI-generated content may be incorrect.">
            <a:extLst>
              <a:ext uri="{FF2B5EF4-FFF2-40B4-BE49-F238E27FC236}">
                <a16:creationId xmlns:a16="http://schemas.microsoft.com/office/drawing/2014/main" id="{2090882E-6037-6134-DBC3-0725A60C6C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664" y="1516327"/>
            <a:ext cx="2829858" cy="2177520"/>
          </a:xfrm>
          <a:prstGeom prst="rect">
            <a:avLst/>
          </a:prstGeom>
        </p:spPr>
      </p:pic>
      <p:pic>
        <p:nvPicPr>
          <p:cNvPr id="17" name="Picture 16" descr="A graph of a number of orange rectangular objects&#10;&#10;AI-generated content may be incorrect.">
            <a:extLst>
              <a:ext uri="{FF2B5EF4-FFF2-40B4-BE49-F238E27FC236}">
                <a16:creationId xmlns:a16="http://schemas.microsoft.com/office/drawing/2014/main" id="{54651A35-9748-4D8D-8282-9159504D11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709" y="1470295"/>
            <a:ext cx="2820944" cy="22044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B15E4EE-D743-F28D-7282-25CB6998216C}"/>
              </a:ext>
            </a:extLst>
          </p:cNvPr>
          <p:cNvSpPr txBox="1"/>
          <p:nvPr/>
        </p:nvSpPr>
        <p:spPr>
          <a:xfrm>
            <a:off x="3758596" y="1334817"/>
            <a:ext cx="2829859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Total unique 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87BDF8-F09D-7D10-B97A-5D70E2704A85}"/>
              </a:ext>
            </a:extLst>
          </p:cNvPr>
          <p:cNvSpPr txBox="1"/>
          <p:nvPr/>
        </p:nvSpPr>
        <p:spPr>
          <a:xfrm>
            <a:off x="6569663" y="1333728"/>
            <a:ext cx="2829859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Total discounted price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94F910-5188-EFFA-57FD-4D110A3DC687}"/>
              </a:ext>
            </a:extLst>
          </p:cNvPr>
          <p:cNvSpPr txBox="1"/>
          <p:nvPr/>
        </p:nvSpPr>
        <p:spPr>
          <a:xfrm>
            <a:off x="9399521" y="1333727"/>
            <a:ext cx="2670427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AOV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C7AD4-9776-5DBB-9236-F6E6796AB6BA}"/>
              </a:ext>
            </a:extLst>
          </p:cNvPr>
          <p:cNvSpPr txBox="1"/>
          <p:nvPr/>
        </p:nvSpPr>
        <p:spPr>
          <a:xfrm>
            <a:off x="7915565" y="4584880"/>
            <a:ext cx="4167918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Repeat customers tend to have high product ratings (4.0–4.5), showing strong satisfaction.</a:t>
            </a:r>
          </a:p>
          <a:p>
            <a:endParaRPr lang="en-US" sz="1100" dirty="0"/>
          </a:p>
          <a:p>
            <a:pPr algn="ctr"/>
            <a:r>
              <a:rPr lang="en-US" sz="1100" b="1" u="sng" dirty="0"/>
              <a:t>Next Steps</a:t>
            </a:r>
            <a:r>
              <a:rPr lang="en-US" sz="1100" b="1" dirty="0"/>
              <a:t>: </a:t>
            </a:r>
          </a:p>
          <a:p>
            <a:pPr algn="ctr"/>
            <a:r>
              <a:rPr lang="en-US" sz="1100" b="1" dirty="0"/>
              <a:t>- </a:t>
            </a:r>
            <a:r>
              <a:rPr lang="en-US" sz="1100" b="1" dirty="0">
                <a:solidFill>
                  <a:srgbClr val="FF0000"/>
                </a:solidFill>
              </a:rPr>
              <a:t>Reduce discounts </a:t>
            </a:r>
            <a:r>
              <a:rPr lang="en-US" sz="1100" dirty="0"/>
              <a:t>for </a:t>
            </a:r>
            <a:r>
              <a:rPr lang="en-US" sz="1100" b="1" dirty="0"/>
              <a:t>high-AOV users</a:t>
            </a:r>
          </a:p>
          <a:p>
            <a:pPr marL="171450" indent="-171450" algn="ctr">
              <a:buFontTx/>
              <a:buChar char="-"/>
            </a:pPr>
            <a:r>
              <a:rPr lang="en-US" sz="1100" dirty="0"/>
              <a:t>Use </a:t>
            </a:r>
            <a:r>
              <a:rPr lang="en-US" sz="1100" b="1" dirty="0">
                <a:solidFill>
                  <a:srgbClr val="00B050"/>
                </a:solidFill>
              </a:rPr>
              <a:t>heavier discounts</a:t>
            </a:r>
            <a:r>
              <a:rPr lang="en-US" sz="1100" dirty="0">
                <a:solidFill>
                  <a:srgbClr val="00B050"/>
                </a:solidFill>
              </a:rPr>
              <a:t> </a:t>
            </a:r>
            <a:r>
              <a:rPr lang="en-US" sz="1100" dirty="0"/>
              <a:t>to move </a:t>
            </a:r>
            <a:r>
              <a:rPr lang="en-US" sz="1100" b="1" dirty="0"/>
              <a:t>low spenders toward higher </a:t>
            </a:r>
            <a:r>
              <a:rPr lang="en-US" sz="1100" dirty="0"/>
              <a:t>value (bundles, upsell) </a:t>
            </a:r>
          </a:p>
          <a:p>
            <a:pPr algn="ctr"/>
            <a:r>
              <a:rPr lang="en-US" sz="1100" dirty="0"/>
              <a:t>- Try segmenting by spend/discount patterns and test different offers.</a:t>
            </a:r>
          </a:p>
          <a:p>
            <a:pPr algn="ctr"/>
            <a:r>
              <a:rPr lang="en-US" sz="1100" dirty="0"/>
              <a:t>Re-engage satisfied buyers with loyalty perks to build retention.</a:t>
            </a:r>
          </a:p>
          <a:p>
            <a:pPr algn="ctr"/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2FA75-2D62-EEA2-7D27-54DF7E083630}"/>
              </a:ext>
            </a:extLst>
          </p:cNvPr>
          <p:cNvSpPr txBox="1"/>
          <p:nvPr/>
        </p:nvSpPr>
        <p:spPr>
          <a:xfrm>
            <a:off x="4178071" y="3739879"/>
            <a:ext cx="23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Mostly one-time buyers </a:t>
            </a:r>
          </a:p>
          <a:p>
            <a:pPr algn="ctr"/>
            <a:r>
              <a:rPr lang="en-US" sz="1200" dirty="0"/>
              <a:t>(2,753 vs 105 repeat buyers)</a:t>
            </a:r>
            <a:endParaRPr lang="en-TH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271F7-2D15-D5AE-68CB-CD766A281D61}"/>
              </a:ext>
            </a:extLst>
          </p:cNvPr>
          <p:cNvSpPr txBox="1"/>
          <p:nvPr/>
        </p:nvSpPr>
        <p:spPr>
          <a:xfrm>
            <a:off x="6922022" y="3710745"/>
            <a:ext cx="2369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92%+ of revenue comes from new buyers</a:t>
            </a:r>
            <a:endParaRPr lang="en-TH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DB7176-7403-0A07-40C4-5F268630026A}"/>
              </a:ext>
            </a:extLst>
          </p:cNvPr>
          <p:cNvSpPr txBox="1"/>
          <p:nvPr/>
        </p:nvSpPr>
        <p:spPr>
          <a:xfrm>
            <a:off x="9665973" y="3662339"/>
            <a:ext cx="2369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AOV (Average Order Value):</a:t>
            </a:r>
            <a:endParaRPr lang="en-US" sz="1200" dirty="0"/>
          </a:p>
          <a:p>
            <a:pPr algn="ctr"/>
            <a:r>
              <a:rPr lang="en-US" sz="1200" b="1" dirty="0"/>
              <a:t>New buyers: </a:t>
            </a:r>
            <a:r>
              <a:rPr lang="en-TH" sz="1200" dirty="0"/>
              <a:t>₹4,937</a:t>
            </a:r>
          </a:p>
          <a:p>
            <a:pPr algn="ctr"/>
            <a:r>
              <a:rPr lang="en-US" sz="1200" b="1" dirty="0"/>
              <a:t>Repeat buyers:</a:t>
            </a:r>
            <a:r>
              <a:rPr lang="en-US" sz="1200" dirty="0"/>
              <a:t> </a:t>
            </a:r>
            <a:r>
              <a:rPr lang="en-TH" sz="1200" dirty="0"/>
              <a:t>₹5,420</a:t>
            </a:r>
          </a:p>
          <a:p>
            <a:pPr algn="ctr"/>
            <a:r>
              <a:rPr lang="en-TH" sz="1200" dirty="0"/>
              <a:t>(</a:t>
            </a:r>
            <a:r>
              <a:rPr lang="en-US" sz="1200" dirty="0"/>
              <a:t>higher than new buyers)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DECD3D-D40A-ABEA-96E8-40A043DF743E}"/>
              </a:ext>
            </a:extLst>
          </p:cNvPr>
          <p:cNvSpPr txBox="1"/>
          <p:nvPr/>
        </p:nvSpPr>
        <p:spPr>
          <a:xfrm>
            <a:off x="32643" y="1335255"/>
            <a:ext cx="3725953" cy="306249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Relationship b/w Discount% &amp; AOV</a:t>
            </a:r>
          </a:p>
        </p:txBody>
      </p:sp>
    </p:spTree>
    <p:extLst>
      <p:ext uri="{BB962C8B-B14F-4D97-AF65-F5344CB8AC3E}">
        <p14:creationId xmlns:p14="http://schemas.microsoft.com/office/powerpoint/2010/main" val="2448266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7BC46-1162-FD81-94BF-D1BCB7F3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graph of a sales report&#10;&#10;AI-generated content may be incorrect.">
            <a:extLst>
              <a:ext uri="{FF2B5EF4-FFF2-40B4-BE49-F238E27FC236}">
                <a16:creationId xmlns:a16="http://schemas.microsoft.com/office/drawing/2014/main" id="{7340FC1C-380B-38B7-F6B2-1C0C22B98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890" y="1223168"/>
            <a:ext cx="2687047" cy="2043547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319612-3BA4-E12F-5E55-11448CFE9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284768" y="180302"/>
            <a:ext cx="12761536" cy="659397"/>
          </a:xfrm>
        </p:spPr>
        <p:txBody>
          <a:bodyPr/>
          <a:lstStyle/>
          <a:p>
            <a:r>
              <a:rPr lang="en-TH" sz="3000" b="1" dirty="0"/>
              <a:t>Computers&amp;Assessories </a:t>
            </a:r>
            <a:r>
              <a:rPr lang="en-TH" sz="3000" dirty="0"/>
              <a:t>:correlation discount% vs AOV </a:t>
            </a:r>
          </a:p>
          <a:p>
            <a:r>
              <a:rPr lang="en-US" sz="3000" dirty="0"/>
              <a:t>&amp; </a:t>
            </a:r>
            <a:r>
              <a:rPr lang="en-TH" sz="3000" dirty="0"/>
              <a:t>purchased days vs Avg product’s rating</a:t>
            </a:r>
          </a:p>
        </p:txBody>
      </p:sp>
      <p:pic>
        <p:nvPicPr>
          <p:cNvPr id="5" name="Picture 4" descr="A graph with numbers and a blue dot&#10;&#10;AI-generated content may be incorrect.">
            <a:extLst>
              <a:ext uri="{FF2B5EF4-FFF2-40B4-BE49-F238E27FC236}">
                <a16:creationId xmlns:a16="http://schemas.microsoft.com/office/drawing/2014/main" id="{3DC3ABCB-4004-F342-23E6-4C2D8209B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435"/>
            <a:ext cx="4359665" cy="2552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E48017-DCB4-FA26-E042-52B4FE4BAF59}"/>
              </a:ext>
            </a:extLst>
          </p:cNvPr>
          <p:cNvSpPr txBox="1"/>
          <p:nvPr/>
        </p:nvSpPr>
        <p:spPr>
          <a:xfrm>
            <a:off x="-37775" y="3688175"/>
            <a:ext cx="43596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>
                <a:highlight>
                  <a:srgbClr val="FFFF00"/>
                </a:highlight>
              </a:rPr>
              <a:t>Almost all users</a:t>
            </a:r>
            <a:r>
              <a:rPr lang="en-US" sz="1100" dirty="0"/>
              <a:t> </a:t>
            </a:r>
          </a:p>
          <a:p>
            <a:pPr algn="ctr"/>
            <a:endParaRPr lang="en-US" sz="11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have </a:t>
            </a:r>
            <a:r>
              <a:rPr lang="en-US" sz="1100" b="1" dirty="0"/>
              <a:t>low AOV (&lt; </a:t>
            </a:r>
            <a:r>
              <a:rPr lang="en-TH" sz="1100" b="1" dirty="0"/>
              <a:t>₹2</a:t>
            </a:r>
            <a:r>
              <a:rPr lang="en-US" sz="1100" b="1" dirty="0"/>
              <a:t>K)</a:t>
            </a:r>
            <a:r>
              <a:rPr lang="en-US" sz="1100" dirty="0"/>
              <a:t> and </a:t>
            </a:r>
            <a:r>
              <a:rPr lang="en-US" sz="1100" b="1" dirty="0"/>
              <a:t>high discounts (70–100%)</a:t>
            </a:r>
          </a:p>
          <a:p>
            <a:pPr algn="ctr"/>
            <a:endParaRPr lang="en-US" sz="11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There’s </a:t>
            </a:r>
            <a:r>
              <a:rPr lang="en-US" sz="1100" b="1" dirty="0"/>
              <a:t>no meaningful cluster of high spenders</a:t>
            </a:r>
            <a:r>
              <a:rPr lang="en-US" sz="1100" dirty="0"/>
              <a:t> like in </a:t>
            </a:r>
            <a:r>
              <a:rPr lang="en-US" sz="1100" dirty="0" err="1"/>
              <a:t>Computers&amp;Assessories</a:t>
            </a:r>
            <a:endParaRPr lang="en-US" sz="11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/>
              <a:t>Indicates this category is </a:t>
            </a:r>
            <a:r>
              <a:rPr lang="en-US" sz="1100" b="1" dirty="0"/>
              <a:t>heavily price-driven</a:t>
            </a:r>
            <a:r>
              <a:rPr lang="en-US" sz="1100" dirty="0"/>
              <a:t> — users likely respond to discounts</a:t>
            </a:r>
          </a:p>
          <a:p>
            <a:pPr algn="ctr"/>
            <a:r>
              <a:rPr lang="en-US" sz="1100" dirty="0"/>
              <a:t>(with one high spender outlier)</a:t>
            </a:r>
          </a:p>
          <a:p>
            <a:endParaRPr lang="en-TH" dirty="0"/>
          </a:p>
        </p:txBody>
      </p:sp>
      <p:pic>
        <p:nvPicPr>
          <p:cNvPr id="20" name="Picture 19" descr="A graph of a purple rectangular object with numbers&#10;&#10;AI-generated content may be incorrect.">
            <a:extLst>
              <a:ext uri="{FF2B5EF4-FFF2-40B4-BE49-F238E27FC236}">
                <a16:creationId xmlns:a16="http://schemas.microsoft.com/office/drawing/2014/main" id="{39BC83A1-62F8-5EBA-B6C1-5404860D69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726" y="1030113"/>
            <a:ext cx="2931449" cy="2335548"/>
          </a:xfrm>
          <a:prstGeom prst="rect">
            <a:avLst/>
          </a:prstGeom>
        </p:spPr>
      </p:pic>
      <p:pic>
        <p:nvPicPr>
          <p:cNvPr id="22" name="Picture 21" descr="A graph of a sales report&#10;&#10;AI-generated content may be incorrect.">
            <a:extLst>
              <a:ext uri="{FF2B5EF4-FFF2-40B4-BE49-F238E27FC236}">
                <a16:creationId xmlns:a16="http://schemas.microsoft.com/office/drawing/2014/main" id="{AE590DD5-3B8D-85BB-ECBC-624C938C83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695" y="1059877"/>
            <a:ext cx="2662465" cy="22929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7F7C7D-1FBA-B870-8D7D-ABDAD8C2B6DC}"/>
              </a:ext>
            </a:extLst>
          </p:cNvPr>
          <p:cNvSpPr txBox="1"/>
          <p:nvPr/>
        </p:nvSpPr>
        <p:spPr>
          <a:xfrm>
            <a:off x="4271355" y="1030113"/>
            <a:ext cx="2605641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Total unique users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494B66-1569-251F-0E72-3777397FA66C}"/>
              </a:ext>
            </a:extLst>
          </p:cNvPr>
          <p:cNvSpPr txBox="1"/>
          <p:nvPr/>
        </p:nvSpPr>
        <p:spPr>
          <a:xfrm>
            <a:off x="6870493" y="1019472"/>
            <a:ext cx="2605641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Total discounted price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1384A0-1402-8278-B921-AE23EE708C6A}"/>
              </a:ext>
            </a:extLst>
          </p:cNvPr>
          <p:cNvSpPr txBox="1"/>
          <p:nvPr/>
        </p:nvSpPr>
        <p:spPr>
          <a:xfrm>
            <a:off x="9474060" y="1017435"/>
            <a:ext cx="247577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AOV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A58789-4B84-F02C-E942-DBE79D87006B}"/>
              </a:ext>
            </a:extLst>
          </p:cNvPr>
          <p:cNvSpPr txBox="1"/>
          <p:nvPr/>
        </p:nvSpPr>
        <p:spPr>
          <a:xfrm>
            <a:off x="8179480" y="3784599"/>
            <a:ext cx="401252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Dominated by new buyers</a:t>
            </a:r>
            <a:r>
              <a:rPr lang="en-US" sz="1050" dirty="0"/>
              <a:t>: 2,423 new vs. only 70 repeat users.</a:t>
            </a:r>
          </a:p>
          <a:p>
            <a:pPr algn="ctr"/>
            <a:endParaRPr lang="en-US" sz="1050" dirty="0"/>
          </a:p>
          <a:p>
            <a:pPr algn="ctr"/>
            <a:r>
              <a:rPr lang="en-US" sz="1050" b="1" dirty="0"/>
              <a:t>Revenue mostly from new users</a:t>
            </a:r>
            <a:r>
              <a:rPr lang="en-US" sz="1050" dirty="0"/>
              <a:t>: 96%+ of total.</a:t>
            </a:r>
          </a:p>
          <a:p>
            <a:pPr algn="ctr"/>
            <a:endParaRPr lang="en-US" sz="1050" dirty="0"/>
          </a:p>
          <a:p>
            <a:pPr algn="ctr"/>
            <a:r>
              <a:rPr lang="en-US" sz="1050" b="1" dirty="0"/>
              <a:t>Low AOV</a:t>
            </a:r>
            <a:r>
              <a:rPr lang="en-US" sz="1050" dirty="0"/>
              <a:t>: ~</a:t>
            </a:r>
            <a:r>
              <a:rPr lang="en-TH" sz="1050" dirty="0"/>
              <a:t>₹1</a:t>
            </a:r>
            <a:r>
              <a:rPr lang="en-US" sz="1050" dirty="0"/>
              <a:t>K–2K, even lower for repeat customers.</a:t>
            </a:r>
          </a:p>
          <a:p>
            <a:pPr algn="ctr"/>
            <a:endParaRPr lang="en-US" sz="1050" dirty="0"/>
          </a:p>
          <a:p>
            <a:pPr algn="ctr"/>
            <a:r>
              <a:rPr lang="en-US" sz="1050" b="1" dirty="0"/>
              <a:t>High discounts are the norm</a:t>
            </a:r>
            <a:r>
              <a:rPr lang="en-US" sz="1050" dirty="0"/>
              <a:t>: 70–100% for most users.</a:t>
            </a:r>
          </a:p>
          <a:p>
            <a:pPr algn="ctr"/>
            <a:endParaRPr lang="en-US" sz="1050" dirty="0"/>
          </a:p>
          <a:p>
            <a:pPr algn="ctr"/>
            <a:r>
              <a:rPr lang="en-US" sz="1050" b="1" dirty="0"/>
              <a:t>High ratings (4.0–4.5)</a:t>
            </a:r>
            <a:r>
              <a:rPr lang="en-US" sz="1050" dirty="0"/>
              <a:t> but limited repeat purchase (1–3 days).</a:t>
            </a:r>
          </a:p>
        </p:txBody>
      </p:sp>
      <p:pic>
        <p:nvPicPr>
          <p:cNvPr id="28" name="Picture 27" descr="A graph with blue dots&#10;&#10;AI-generated content may be incorrect.">
            <a:extLst>
              <a:ext uri="{FF2B5EF4-FFF2-40B4-BE49-F238E27FC236}">
                <a16:creationId xmlns:a16="http://schemas.microsoft.com/office/drawing/2014/main" id="{61FD516D-BF06-9F02-EE26-A3D57FE24F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7"/>
          <a:stretch>
            <a:fillRect/>
          </a:stretch>
        </p:blipFill>
        <p:spPr>
          <a:xfrm>
            <a:off x="4146248" y="3343682"/>
            <a:ext cx="4318000" cy="247847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DA915A-FC28-8584-B5F4-0CC7569D60A2}"/>
              </a:ext>
            </a:extLst>
          </p:cNvPr>
          <p:cNvSpPr txBox="1"/>
          <p:nvPr/>
        </p:nvSpPr>
        <p:spPr>
          <a:xfrm>
            <a:off x="2934941" y="5825048"/>
            <a:ext cx="5948314" cy="83099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Target discounts</a:t>
            </a:r>
            <a:r>
              <a:rPr lang="en-US" sz="1200" dirty="0"/>
              <a:t> to low-AOV users only; avoid over-discounting everyone.</a:t>
            </a:r>
          </a:p>
          <a:p>
            <a:pPr algn="ctr"/>
            <a:r>
              <a:rPr lang="en-US" sz="1200" b="1" dirty="0"/>
              <a:t>Test bundles or add-ons</a:t>
            </a:r>
            <a:r>
              <a:rPr lang="en-US" sz="1200" dirty="0"/>
              <a:t> to increase order value.</a:t>
            </a:r>
          </a:p>
          <a:p>
            <a:pPr algn="ctr"/>
            <a:r>
              <a:rPr lang="en-US" sz="1200" b="1" dirty="0"/>
              <a:t>Retarget within 72 </a:t>
            </a:r>
            <a:r>
              <a:rPr lang="en-US" sz="1200" b="1" dirty="0" err="1"/>
              <a:t>hrs</a:t>
            </a:r>
            <a:r>
              <a:rPr lang="en-US" sz="1200" dirty="0"/>
              <a:t> to convert satisfied buyers into repeat customers.</a:t>
            </a:r>
          </a:p>
          <a:p>
            <a:pPr algn="ctr"/>
            <a:r>
              <a:rPr lang="en-US" sz="1200" b="1" dirty="0"/>
              <a:t>Use post-purchase feedback</a:t>
            </a:r>
            <a:r>
              <a:rPr lang="en-US" sz="1200" dirty="0"/>
              <a:t> to identify drop-off reasons.</a:t>
            </a:r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8ED324A2-0FD8-F8BB-E918-B2563F759712}"/>
              </a:ext>
            </a:extLst>
          </p:cNvPr>
          <p:cNvSpPr/>
          <p:nvPr/>
        </p:nvSpPr>
        <p:spPr>
          <a:xfrm>
            <a:off x="1093509" y="5840565"/>
            <a:ext cx="1470582" cy="69758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dirty="0"/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25180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rectangle with numbers&#10;&#10;AI-generated content may be incorrect.">
            <a:extLst>
              <a:ext uri="{FF2B5EF4-FFF2-40B4-BE49-F238E27FC236}">
                <a16:creationId xmlns:a16="http://schemas.microsoft.com/office/drawing/2014/main" id="{3D7F6FAE-8274-8F45-0A71-3EE4DDF33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983" y="1719817"/>
            <a:ext cx="2890781" cy="221441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CED48D-6937-C93D-221B-C6F39E4C7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TH" sz="3000" dirty="0"/>
              <a:t>Home &amp; Kitchen :correlation discount% vs AOV </a:t>
            </a:r>
          </a:p>
          <a:p>
            <a:r>
              <a:rPr lang="en-US" sz="3000" dirty="0"/>
              <a:t>&amp; </a:t>
            </a:r>
            <a:r>
              <a:rPr lang="en-TH" sz="3000" dirty="0"/>
              <a:t>purchased days vs Avg product’s rating</a:t>
            </a:r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7C149F15-DCC0-6715-E858-D9B6CEE26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834597"/>
            <a:ext cx="4208240" cy="23731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2E903E-9BD4-5D53-6EA6-53C5A693966C}"/>
              </a:ext>
            </a:extLst>
          </p:cNvPr>
          <p:cNvSpPr txBox="1"/>
          <p:nvPr/>
        </p:nvSpPr>
        <p:spPr>
          <a:xfrm>
            <a:off x="1" y="1419435"/>
            <a:ext cx="4155135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Home &amp; Kitchen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01232-C282-0E06-B96F-997AA24B3843}"/>
              </a:ext>
            </a:extLst>
          </p:cNvPr>
          <p:cNvSpPr txBox="1"/>
          <p:nvPr/>
        </p:nvSpPr>
        <p:spPr>
          <a:xfrm>
            <a:off x="4353537" y="5820930"/>
            <a:ext cx="7543188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Next step</a:t>
            </a:r>
            <a:r>
              <a:rPr lang="en-US" sz="1200" b="1" dirty="0"/>
              <a:t> </a:t>
            </a:r>
          </a:p>
          <a:p>
            <a:pPr algn="ctr"/>
            <a:r>
              <a:rPr lang="en-US" sz="1200" dirty="0"/>
              <a:t>Use heavier promos to upsell or convert low-AOV users.</a:t>
            </a:r>
          </a:p>
          <a:p>
            <a:pPr algn="ctr"/>
            <a:r>
              <a:rPr lang="en-US" sz="1200" dirty="0"/>
              <a:t>Target high-rated buyers with loyalty offers to encourage repeat purchases.</a:t>
            </a:r>
          </a:p>
          <a:p>
            <a:pPr algn="ctr"/>
            <a:r>
              <a:rPr lang="en-US" sz="1200" dirty="0"/>
              <a:t>Focus on building retention—currently just 31 users return.</a:t>
            </a:r>
          </a:p>
        </p:txBody>
      </p:sp>
      <p:pic>
        <p:nvPicPr>
          <p:cNvPr id="17" name="Picture 16" descr="A graph of a bar&#10;&#10;AI-generated content may be incorrect.">
            <a:extLst>
              <a:ext uri="{FF2B5EF4-FFF2-40B4-BE49-F238E27FC236}">
                <a16:creationId xmlns:a16="http://schemas.microsoft.com/office/drawing/2014/main" id="{C591AAF4-BEF6-42E1-D121-FC07219355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659" y="1811211"/>
            <a:ext cx="2892079" cy="2344337"/>
          </a:xfrm>
          <a:prstGeom prst="rect">
            <a:avLst/>
          </a:prstGeom>
        </p:spPr>
      </p:pic>
      <p:pic>
        <p:nvPicPr>
          <p:cNvPr id="19" name="Picture 18" descr="A graph of a price&#10;&#10;AI-generated content may be incorrect.">
            <a:extLst>
              <a:ext uri="{FF2B5EF4-FFF2-40B4-BE49-F238E27FC236}">
                <a16:creationId xmlns:a16="http://schemas.microsoft.com/office/drawing/2014/main" id="{0ECD9DCB-8AD8-DB44-2153-975A3A3E38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8"/>
          <a:stretch>
            <a:fillRect/>
          </a:stretch>
        </p:blipFill>
        <p:spPr>
          <a:xfrm>
            <a:off x="9548019" y="1821379"/>
            <a:ext cx="2537632" cy="22926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67C0826-2882-DE9C-1C07-1E72C1EDE9DC}"/>
              </a:ext>
            </a:extLst>
          </p:cNvPr>
          <p:cNvSpPr txBox="1"/>
          <p:nvPr/>
        </p:nvSpPr>
        <p:spPr>
          <a:xfrm>
            <a:off x="4161761" y="1425787"/>
            <a:ext cx="2890780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Total unique 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F6C65-29E5-6F1A-5877-D71D86959CF8}"/>
              </a:ext>
            </a:extLst>
          </p:cNvPr>
          <p:cNvSpPr txBox="1"/>
          <p:nvPr/>
        </p:nvSpPr>
        <p:spPr>
          <a:xfrm>
            <a:off x="7059168" y="1412040"/>
            <a:ext cx="2605641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Total discounted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5CBF4F-1BE9-6E29-E670-05B79E46C31E}"/>
              </a:ext>
            </a:extLst>
          </p:cNvPr>
          <p:cNvSpPr txBox="1"/>
          <p:nvPr/>
        </p:nvSpPr>
        <p:spPr>
          <a:xfrm>
            <a:off x="9664808" y="1412675"/>
            <a:ext cx="2475773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TH" sz="1400" dirty="0"/>
              <a:t>AOV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9CC372-79C8-5B97-D008-399DB543660A}"/>
              </a:ext>
            </a:extLst>
          </p:cNvPr>
          <p:cNvSpPr txBox="1"/>
          <p:nvPr/>
        </p:nvSpPr>
        <p:spPr>
          <a:xfrm>
            <a:off x="4392485" y="4937566"/>
            <a:ext cx="741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Discounts</a:t>
            </a:r>
            <a:r>
              <a:rPr lang="en-US" sz="1200" dirty="0"/>
              <a:t>: Most buyers get heavy discounts (70–100%), even at lower AOVs.</a:t>
            </a:r>
          </a:p>
          <a:p>
            <a:pPr algn="ctr"/>
            <a:r>
              <a:rPr lang="en-US" sz="1200" dirty="0"/>
              <a:t> Meanwhile, high spenders (~</a:t>
            </a:r>
            <a:r>
              <a:rPr lang="en-TH" sz="1200" dirty="0"/>
              <a:t>₹10</a:t>
            </a:r>
            <a:r>
              <a:rPr lang="en-US" sz="1200" dirty="0"/>
              <a:t>K–30K) get smaller discounts (~50–60%).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b="1" dirty="0"/>
              <a:t>Engagement</a:t>
            </a:r>
            <a:r>
              <a:rPr lang="en-US" sz="1200" dirty="0"/>
              <a:t>: Users with 2–3 active days often have high product ratings (~4.0–4.5).</a:t>
            </a:r>
          </a:p>
        </p:txBody>
      </p:sp>
      <p:pic>
        <p:nvPicPr>
          <p:cNvPr id="31" name="Picture 30" descr="A graph with blue dots&#10;&#10;AI-generated content may be incorrect.">
            <a:extLst>
              <a:ext uri="{FF2B5EF4-FFF2-40B4-BE49-F238E27FC236}">
                <a16:creationId xmlns:a16="http://schemas.microsoft.com/office/drawing/2014/main" id="{3D9961DB-446A-CE88-1FE0-3A0DE73E77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4" y="4254413"/>
            <a:ext cx="4059442" cy="24932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B7EBF38-89C9-09A2-B306-4C5726CAC172}"/>
              </a:ext>
            </a:extLst>
          </p:cNvPr>
          <p:cNvSpPr txBox="1"/>
          <p:nvPr/>
        </p:nvSpPr>
        <p:spPr>
          <a:xfrm>
            <a:off x="4392485" y="4227199"/>
            <a:ext cx="2549174" cy="65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User Type</a:t>
            </a:r>
            <a:r>
              <a:rPr lang="en-US" sz="1200" dirty="0"/>
              <a:t>: Strongly leaning toward </a:t>
            </a:r>
            <a:r>
              <a:rPr lang="en-US" sz="1200" dirty="0">
                <a:highlight>
                  <a:srgbClr val="FFFF00"/>
                </a:highlight>
              </a:rPr>
              <a:t>new 1-time buyers</a:t>
            </a:r>
            <a:r>
              <a:rPr lang="en-US" sz="1200" dirty="0"/>
              <a:t> (3,449 vs only 31 repeat users).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936883-2D30-791B-D17D-3CE694AD2F65}"/>
              </a:ext>
            </a:extLst>
          </p:cNvPr>
          <p:cNvSpPr txBox="1"/>
          <p:nvPr/>
        </p:nvSpPr>
        <p:spPr>
          <a:xfrm>
            <a:off x="6987302" y="4316666"/>
            <a:ext cx="2549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Revenue</a:t>
            </a:r>
            <a:r>
              <a:rPr lang="en-US" sz="1200" dirty="0"/>
              <a:t>: Nearly </a:t>
            </a:r>
            <a:r>
              <a:rPr lang="en-US" sz="1200" b="1" dirty="0"/>
              <a:t>all revenue </a:t>
            </a:r>
            <a:r>
              <a:rPr lang="en-US" sz="1200" dirty="0"/>
              <a:t>comes from </a:t>
            </a:r>
            <a:r>
              <a:rPr lang="en-US" sz="1200" dirty="0">
                <a:highlight>
                  <a:srgbClr val="FFFF00"/>
                </a:highlight>
              </a:rPr>
              <a:t>new customers.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B60705-AC25-229A-D8EC-79EEA94434F4}"/>
              </a:ext>
            </a:extLst>
          </p:cNvPr>
          <p:cNvSpPr txBox="1"/>
          <p:nvPr/>
        </p:nvSpPr>
        <p:spPr>
          <a:xfrm>
            <a:off x="9536476" y="4233033"/>
            <a:ext cx="254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AOV</a:t>
            </a:r>
            <a:r>
              <a:rPr lang="en-US" sz="1200" dirty="0"/>
              <a:t>: </a:t>
            </a:r>
            <a:r>
              <a:rPr lang="en-US" sz="1200" b="1" dirty="0"/>
              <a:t>Repeat buyers </a:t>
            </a:r>
            <a:r>
              <a:rPr lang="en-US" sz="1200" dirty="0"/>
              <a:t>actually </a:t>
            </a:r>
            <a:r>
              <a:rPr lang="en-US" sz="1200" dirty="0">
                <a:solidFill>
                  <a:srgbClr val="92D050"/>
                </a:solidFill>
              </a:rPr>
              <a:t>spend a bit more </a:t>
            </a:r>
            <a:r>
              <a:rPr lang="en-US" sz="1200" dirty="0"/>
              <a:t>per order </a:t>
            </a:r>
          </a:p>
          <a:p>
            <a:pPr algn="ctr"/>
            <a:r>
              <a:rPr lang="en-US" sz="1200" dirty="0"/>
              <a:t>(</a:t>
            </a:r>
            <a:r>
              <a:rPr lang="en-TH" sz="1200" dirty="0"/>
              <a:t>₹2,466 </a:t>
            </a:r>
            <a:r>
              <a:rPr lang="en-US" sz="1200" dirty="0"/>
              <a:t>vs </a:t>
            </a:r>
            <a:r>
              <a:rPr lang="en-TH" sz="1200" dirty="0"/>
              <a:t>₹2,310).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1D4FB-D0D6-21D4-EDA2-19A626EC5F57}"/>
              </a:ext>
            </a:extLst>
          </p:cNvPr>
          <p:cNvSpPr/>
          <p:nvPr/>
        </p:nvSpPr>
        <p:spPr>
          <a:xfrm>
            <a:off x="1" y="1425786"/>
            <a:ext cx="4155136" cy="2806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88E55B-A3C2-E932-396A-A29037D0FF4F}"/>
              </a:ext>
            </a:extLst>
          </p:cNvPr>
          <p:cNvSpPr/>
          <p:nvPr/>
        </p:nvSpPr>
        <p:spPr>
          <a:xfrm>
            <a:off x="4147448" y="1417966"/>
            <a:ext cx="2905093" cy="2806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5BA431-323E-CAC6-B5A6-C0C7EAF2379E}"/>
              </a:ext>
            </a:extLst>
          </p:cNvPr>
          <p:cNvSpPr/>
          <p:nvPr/>
        </p:nvSpPr>
        <p:spPr>
          <a:xfrm>
            <a:off x="7059166" y="1425786"/>
            <a:ext cx="2530416" cy="2806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59272B-4E6F-4BB7-E71F-D289ABE3CD4C}"/>
              </a:ext>
            </a:extLst>
          </p:cNvPr>
          <p:cNvSpPr/>
          <p:nvPr/>
        </p:nvSpPr>
        <p:spPr>
          <a:xfrm>
            <a:off x="9596207" y="1425786"/>
            <a:ext cx="2542549" cy="28060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4550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CD936E-4D98-101E-DF72-6996271D31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514905" y="0"/>
            <a:ext cx="12961398" cy="724247"/>
          </a:xfrm>
        </p:spPr>
        <p:txBody>
          <a:bodyPr/>
          <a:lstStyle/>
          <a:p>
            <a:r>
              <a:rPr lang="en-TH" sz="3200" dirty="0"/>
              <a:t>Product’s Rating among customer type by each category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E707CA-EFD6-A5E1-A765-D47A30EB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3" y="8114060"/>
            <a:ext cx="9562478" cy="40647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13DDCB-EE2B-7B71-8FE2-A03CFD0E9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28" y="1056442"/>
            <a:ext cx="6572784" cy="5356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83E49B-6581-F40B-302B-1DBFAAEB107D}"/>
              </a:ext>
            </a:extLst>
          </p:cNvPr>
          <p:cNvSpPr txBox="1"/>
          <p:nvPr/>
        </p:nvSpPr>
        <p:spPr>
          <a:xfrm>
            <a:off x="7261933" y="2139518"/>
            <a:ext cx="40304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1) Electronics</a:t>
            </a:r>
            <a:r>
              <a:rPr lang="en-US" sz="1200" dirty="0"/>
              <a:t>, </a:t>
            </a:r>
            <a:r>
              <a:rPr lang="en-US" sz="1200" b="1" dirty="0"/>
              <a:t>Computers &amp; Accessories</a:t>
            </a:r>
            <a:r>
              <a:rPr lang="en-US" sz="1200" dirty="0"/>
              <a:t>, and </a:t>
            </a:r>
            <a:r>
              <a:rPr lang="en-US" sz="1200" b="1" dirty="0"/>
              <a:t>Home &amp; Kitchen</a:t>
            </a:r>
            <a:r>
              <a:rPr lang="en-US" sz="1200" dirty="0"/>
              <a:t> consistently get </a:t>
            </a:r>
            <a:r>
              <a:rPr lang="en-US" sz="1200" dirty="0">
                <a:solidFill>
                  <a:srgbClr val="92D050"/>
                </a:solidFill>
              </a:rPr>
              <a:t>high ratings </a:t>
            </a:r>
            <a:r>
              <a:rPr lang="en-US" sz="1200" dirty="0"/>
              <a:t>(around 4.2–4.5). This lines up with what we saw earlier—these categories also bring in </a:t>
            </a:r>
            <a:r>
              <a:rPr lang="en-US" sz="1200" b="1" dirty="0">
                <a:solidFill>
                  <a:srgbClr val="00B050"/>
                </a:solidFill>
              </a:rPr>
              <a:t>higher revenue</a:t>
            </a:r>
            <a:r>
              <a:rPr lang="en-US" sz="1200" dirty="0">
                <a:solidFill>
                  <a:srgbClr val="00B050"/>
                </a:solidFill>
              </a:rPr>
              <a:t> </a:t>
            </a:r>
            <a:r>
              <a:rPr lang="en-US" sz="1200" dirty="0"/>
              <a:t>and more </a:t>
            </a:r>
            <a:r>
              <a:rPr lang="en-US" sz="1200" b="1" dirty="0">
                <a:solidFill>
                  <a:srgbClr val="00B050"/>
                </a:solidFill>
              </a:rPr>
              <a:t>returning customers.</a:t>
            </a:r>
          </a:p>
          <a:p>
            <a:pPr algn="ctr"/>
            <a:endParaRPr lang="en-US" sz="1200" b="1" dirty="0"/>
          </a:p>
          <a:p>
            <a:pPr algn="ctr"/>
            <a:r>
              <a:rPr lang="en-US" sz="1200" b="1" dirty="0"/>
              <a:t>2)Office Products</a:t>
            </a:r>
            <a:r>
              <a:rPr lang="en-US" sz="1200" dirty="0"/>
              <a:t> and </a:t>
            </a:r>
            <a:r>
              <a:rPr lang="en-US" sz="1200" b="1" dirty="0"/>
              <a:t>Home Improvement</a:t>
            </a:r>
            <a:r>
              <a:rPr lang="en-US" sz="1200" dirty="0"/>
              <a:t> also have </a:t>
            </a:r>
            <a:r>
              <a:rPr lang="en-US" sz="1200" dirty="0">
                <a:solidFill>
                  <a:srgbClr val="92D050"/>
                </a:solidFill>
              </a:rPr>
              <a:t>moderate – high ratings </a:t>
            </a:r>
            <a:r>
              <a:rPr lang="en-US" sz="1200" dirty="0"/>
              <a:t>but show </a:t>
            </a:r>
            <a:r>
              <a:rPr lang="en-US" sz="1200" dirty="0">
                <a:solidFill>
                  <a:srgbClr val="FF0000"/>
                </a:solidFill>
              </a:rPr>
              <a:t>less repeat </a:t>
            </a:r>
            <a:r>
              <a:rPr lang="en-US" sz="1200" dirty="0"/>
              <a:t>behavior or smaller user number.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3)On the other hand, categories like </a:t>
            </a:r>
            <a:r>
              <a:rPr lang="en-US" sz="1200" b="1" dirty="0"/>
              <a:t>Musical Instruments</a:t>
            </a:r>
            <a:r>
              <a:rPr lang="en-US" sz="1200" dirty="0"/>
              <a:t>, </a:t>
            </a:r>
            <a:r>
              <a:rPr lang="en-US" sz="1200" b="1" dirty="0"/>
              <a:t>Car &amp; Motorbike</a:t>
            </a:r>
            <a:r>
              <a:rPr lang="en-US" sz="1200" dirty="0"/>
              <a:t>, and </a:t>
            </a:r>
            <a:r>
              <a:rPr lang="en-US" sz="1200" b="1" dirty="0"/>
              <a:t>Health &amp; Personal Care</a:t>
            </a:r>
            <a:r>
              <a:rPr lang="en-US" sz="1200" dirty="0"/>
              <a:t> have noticeably lower ratings. These are also the same categories with low AOV and very few repeat buyers.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AEBA6D-D6B3-C21C-B8C6-6FDC5B0B8087}"/>
              </a:ext>
            </a:extLst>
          </p:cNvPr>
          <p:cNvSpPr txBox="1"/>
          <p:nvPr/>
        </p:nvSpPr>
        <p:spPr>
          <a:xfrm>
            <a:off x="2450237" y="1331650"/>
            <a:ext cx="2141158" cy="162556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CA41C-A348-2E00-6567-59FFC71CF0BB}"/>
              </a:ext>
            </a:extLst>
          </p:cNvPr>
          <p:cNvSpPr txBox="1"/>
          <p:nvPr/>
        </p:nvSpPr>
        <p:spPr>
          <a:xfrm>
            <a:off x="4612950" y="1322772"/>
            <a:ext cx="2142957" cy="165172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E2F6AF-66B4-D8A5-92BE-6464BB69FBCB}"/>
              </a:ext>
            </a:extLst>
          </p:cNvPr>
          <p:cNvSpPr txBox="1"/>
          <p:nvPr/>
        </p:nvSpPr>
        <p:spPr>
          <a:xfrm>
            <a:off x="234751" y="2983852"/>
            <a:ext cx="2190000" cy="160607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5CC62B-E897-25B5-0B1B-183D7376AEFB}"/>
              </a:ext>
            </a:extLst>
          </p:cNvPr>
          <p:cNvSpPr txBox="1"/>
          <p:nvPr/>
        </p:nvSpPr>
        <p:spPr>
          <a:xfrm>
            <a:off x="225377" y="1287738"/>
            <a:ext cx="2198225" cy="1677880"/>
          </a:xfrm>
          <a:prstGeom prst="rect">
            <a:avLst/>
          </a:prstGeom>
          <a:noFill/>
          <a:ln w="28575">
            <a:solidFill>
              <a:srgbClr val="F0CE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E15F7-D0CA-07D1-9CC2-894295E843DC}"/>
              </a:ext>
            </a:extLst>
          </p:cNvPr>
          <p:cNvSpPr txBox="1"/>
          <p:nvPr/>
        </p:nvSpPr>
        <p:spPr>
          <a:xfrm>
            <a:off x="2454035" y="2992252"/>
            <a:ext cx="2190000" cy="1579921"/>
          </a:xfrm>
          <a:prstGeom prst="rect">
            <a:avLst/>
          </a:prstGeom>
          <a:noFill/>
          <a:ln w="28575">
            <a:solidFill>
              <a:srgbClr val="F0CE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D22846-E2BB-1D53-79AF-B959E47CE2F1}"/>
              </a:ext>
            </a:extLst>
          </p:cNvPr>
          <p:cNvSpPr txBox="1"/>
          <p:nvPr/>
        </p:nvSpPr>
        <p:spPr>
          <a:xfrm>
            <a:off x="4621334" y="3008428"/>
            <a:ext cx="2172738" cy="33881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D11175-750C-2A83-86E8-729B3DE53BE2}"/>
              </a:ext>
            </a:extLst>
          </p:cNvPr>
          <p:cNvSpPr txBox="1"/>
          <p:nvPr/>
        </p:nvSpPr>
        <p:spPr>
          <a:xfrm rot="5400000">
            <a:off x="1529183" y="3312774"/>
            <a:ext cx="1798211" cy="43693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</p:spTree>
    <p:extLst>
      <p:ext uri="{BB962C8B-B14F-4D97-AF65-F5344CB8AC3E}">
        <p14:creationId xmlns:p14="http://schemas.microsoft.com/office/powerpoint/2010/main" val="56415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3EFB09-9B7C-508B-0D84-28951F0E9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0"/>
            <a:ext cx="11573197" cy="724247"/>
          </a:xfrm>
        </p:spPr>
        <p:txBody>
          <a:bodyPr/>
          <a:lstStyle/>
          <a:p>
            <a:r>
              <a:rPr lang="en-TH" sz="4000" dirty="0"/>
              <a:t>Key findings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C88AE9-C863-DB57-B5C1-C57DB5FEE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93427"/>
              </p:ext>
            </p:extLst>
          </p:nvPr>
        </p:nvGraphicFramePr>
        <p:xfrm>
          <a:off x="267093" y="654049"/>
          <a:ext cx="11601379" cy="61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167">
                  <a:extLst>
                    <a:ext uri="{9D8B030D-6E8A-4147-A177-3AD203B41FA5}">
                      <a16:colId xmlns:a16="http://schemas.microsoft.com/office/drawing/2014/main" val="2534144989"/>
                    </a:ext>
                  </a:extLst>
                </a:gridCol>
                <a:gridCol w="2422686">
                  <a:extLst>
                    <a:ext uri="{9D8B030D-6E8A-4147-A177-3AD203B41FA5}">
                      <a16:colId xmlns:a16="http://schemas.microsoft.com/office/drawing/2014/main" val="3598152525"/>
                    </a:ext>
                  </a:extLst>
                </a:gridCol>
                <a:gridCol w="5253331">
                  <a:extLst>
                    <a:ext uri="{9D8B030D-6E8A-4147-A177-3AD203B41FA5}">
                      <a16:colId xmlns:a16="http://schemas.microsoft.com/office/drawing/2014/main" val="2931748789"/>
                    </a:ext>
                  </a:extLst>
                </a:gridCol>
                <a:gridCol w="3372195">
                  <a:extLst>
                    <a:ext uri="{9D8B030D-6E8A-4147-A177-3AD203B41FA5}">
                      <a16:colId xmlns:a16="http://schemas.microsoft.com/office/drawing/2014/main" val="757262750"/>
                    </a:ext>
                  </a:extLst>
                </a:gridCol>
              </a:tblGrid>
              <a:tr h="292231">
                <a:tc>
                  <a:txBody>
                    <a:bodyPr/>
                    <a:lstStyle/>
                    <a:p>
                      <a:pPr algn="ctr"/>
                      <a:r>
                        <a:rPr lang="en-TH" sz="1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400" dirty="0"/>
                        <a:t>Key insights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400" dirty="0"/>
                        <a:t>Details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400" dirty="0"/>
                        <a:t>Next step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954909"/>
                  </a:ext>
                </a:extLst>
              </a:tr>
              <a:tr h="456100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100" b="1" dirty="0"/>
                        <a:t>Most buyers are 1-time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highlight>
                            <a:srgbClr val="FFFF00"/>
                          </a:highlight>
                        </a:rPr>
                        <a:t>96.63% of users </a:t>
                      </a:r>
                      <a:r>
                        <a:rPr lang="en-US" sz="1100" dirty="0"/>
                        <a:t>(8,745 of 9,050)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purchased only once</a:t>
                      </a:r>
                      <a:r>
                        <a:rPr lang="en-US" sz="1100" dirty="0"/>
                        <a:t>. </a:t>
                      </a:r>
                    </a:p>
                    <a:p>
                      <a:pPr algn="ctr"/>
                      <a:r>
                        <a:rPr lang="en-US" sz="1100" b="1" dirty="0"/>
                        <a:t>Recurring customer </a:t>
                      </a:r>
                      <a:r>
                        <a:rPr lang="en-US" sz="1100" dirty="0"/>
                        <a:t>rate is only </a:t>
                      </a:r>
                      <a:r>
                        <a:rPr lang="en-US" sz="1100" b="1" dirty="0"/>
                        <a:t>~3.37%.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 Launch </a:t>
                      </a:r>
                      <a:r>
                        <a:rPr lang="en-US" sz="1100" b="1" dirty="0"/>
                        <a:t>re-engagement campaigns for 1-time buyers</a:t>
                      </a:r>
                      <a:br>
                        <a:rPr lang="en-US" sz="1100" b="1" dirty="0"/>
                      </a:br>
                      <a:r>
                        <a:rPr lang="en-US" sz="1100" dirty="0"/>
                        <a:t>- Use </a:t>
                      </a:r>
                      <a:r>
                        <a:rPr lang="en-US" sz="1100" b="1" dirty="0"/>
                        <a:t>welcome offers &amp; post-purchase </a:t>
                      </a:r>
                      <a:r>
                        <a:rPr lang="en-US" sz="1100" dirty="0"/>
                        <a:t>surveys to encourage second purchases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446936"/>
                  </a:ext>
                </a:extLst>
              </a:tr>
              <a:tr h="532157"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11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/>
                        <a:t>Top Performing Categories</a:t>
                      </a:r>
                      <a:r>
                        <a:rPr lang="en-US" sz="1100" dirty="0"/>
                        <a:t>: Electronics, Home &amp; Kitchen, Computers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These three drive the </a:t>
                      </a:r>
                      <a:r>
                        <a:rPr lang="en-US" sz="1100" b="1" dirty="0"/>
                        <a:t>most revenue and repeat customers</a:t>
                      </a:r>
                      <a:r>
                        <a:rPr lang="en-US" sz="1100" dirty="0"/>
                        <a:t>. </a:t>
                      </a:r>
                    </a:p>
                    <a:p>
                      <a:pPr algn="ctr"/>
                      <a:r>
                        <a:rPr lang="en-US" sz="1100" b="1" dirty="0"/>
                        <a:t>Electronics </a:t>
                      </a:r>
                      <a:r>
                        <a:rPr lang="en-US" sz="1100" dirty="0"/>
                        <a:t>stands out for both </a:t>
                      </a:r>
                      <a:r>
                        <a:rPr lang="en-US" sz="1100" b="1" dirty="0">
                          <a:solidFill>
                            <a:srgbClr val="00B050"/>
                          </a:solidFill>
                        </a:rPr>
                        <a:t>high AOV and repeat rate.</a:t>
                      </a:r>
                      <a:endParaRPr lang="en-TH" sz="11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ctr">
                        <a:buFontTx/>
                        <a:buChar char="-"/>
                      </a:pPr>
                      <a:r>
                        <a:rPr lang="en-US" sz="1100" dirty="0"/>
                        <a:t>Focus </a:t>
                      </a:r>
                      <a:r>
                        <a:rPr lang="en-US" sz="1100" b="1" dirty="0"/>
                        <a:t>retention efforts </a:t>
                      </a:r>
                      <a:r>
                        <a:rPr lang="en-US" sz="1100" dirty="0"/>
                        <a:t>here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Create category-specific </a:t>
                      </a:r>
                      <a:r>
                        <a:rPr lang="en-US" sz="1100" b="1" dirty="0">
                          <a:solidFill>
                            <a:srgbClr val="00B050"/>
                          </a:solidFill>
                        </a:rPr>
                        <a:t>loyalty programs </a:t>
                      </a:r>
                      <a:r>
                        <a:rPr lang="en-US" sz="1100" dirty="0"/>
                        <a:t>(e.g. </a:t>
                      </a:r>
                      <a:r>
                        <a:rPr lang="en-US" sz="1100" b="1" dirty="0"/>
                        <a:t>VIP tiers</a:t>
                      </a:r>
                      <a:r>
                        <a:rPr lang="en-US" sz="1100" dirty="0"/>
                        <a:t>, exclusive perks)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094787"/>
                  </a:ext>
                </a:extLst>
              </a:tr>
              <a:tr h="512832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Recurring users spend more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Recurring customers </a:t>
                      </a:r>
                      <a:r>
                        <a:rPr lang="en-US" sz="1100" dirty="0"/>
                        <a:t>consistently show </a:t>
                      </a:r>
                      <a:r>
                        <a:rPr lang="en-US" sz="1100" b="1" dirty="0">
                          <a:solidFill>
                            <a:srgbClr val="00B050"/>
                          </a:solidFill>
                        </a:rPr>
                        <a:t>higher AOV </a:t>
                      </a:r>
                    </a:p>
                    <a:p>
                      <a:pPr algn="ctr"/>
                      <a:r>
                        <a:rPr lang="en-US" sz="1100" dirty="0"/>
                        <a:t>(e.g. </a:t>
                      </a:r>
                      <a:r>
                        <a:rPr lang="en-TH" sz="1100" dirty="0"/>
                        <a:t>₹5,070 </a:t>
                      </a:r>
                      <a:r>
                        <a:rPr lang="en-US" sz="1100" dirty="0"/>
                        <a:t>for Electronics vs </a:t>
                      </a:r>
                      <a:r>
                        <a:rPr lang="en-TH" sz="1100" dirty="0"/>
                        <a:t>₹4,295 </a:t>
                      </a:r>
                      <a:r>
                        <a:rPr lang="en-US" sz="1100" dirty="0"/>
                        <a:t>for new buyers)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Prioritize converting </a:t>
                      </a:r>
                      <a:r>
                        <a:rPr lang="en-US" sz="1100" b="1" dirty="0">
                          <a:highlight>
                            <a:srgbClr val="FFFF00"/>
                          </a:highlight>
                        </a:rPr>
                        <a:t>new buyers to recurring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</a:t>
                      </a:r>
                      <a:r>
                        <a:rPr lang="en-US" sz="1100" b="1" dirty="0"/>
                        <a:t>Bundle offers </a:t>
                      </a:r>
                      <a:r>
                        <a:rPr lang="en-US" sz="1100" dirty="0"/>
                        <a:t>or early access perks for repeat shoppers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120214"/>
                  </a:ext>
                </a:extLst>
              </a:tr>
              <a:tr h="736270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Discount &amp; AOV: Weak correlation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Final discounted price </a:t>
                      </a:r>
                      <a:r>
                        <a:rPr lang="en-US" sz="1100" dirty="0"/>
                        <a:t>has a slight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negative correlation </a:t>
                      </a:r>
                      <a:r>
                        <a:rPr lang="en-US" sz="1100" dirty="0"/>
                        <a:t>with </a:t>
                      </a:r>
                      <a:r>
                        <a:rPr lang="en-US" sz="1100" b="1" dirty="0"/>
                        <a:t>purchase count </a:t>
                      </a:r>
                    </a:p>
                    <a:p>
                      <a:pPr algn="ctr"/>
                      <a:r>
                        <a:rPr lang="en-US" sz="1100" dirty="0"/>
                        <a:t>(-0.15). Discount % is weakly linked to AOV.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 Avoid flat discounts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Use dynamic discounting—target low spenders only (since we can see from customer </a:t>
                      </a:r>
                      <a:r>
                        <a:rPr lang="en-US" sz="1100" dirty="0" err="1"/>
                        <a:t>deepdive</a:t>
                      </a:r>
                      <a:r>
                        <a:rPr lang="en-US" sz="1100" dirty="0"/>
                        <a:t> that higher spenders don’t have strong link to discount)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680358"/>
                  </a:ext>
                </a:extLst>
              </a:tr>
              <a:tr h="736270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High spenders need less incentive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Users with </a:t>
                      </a:r>
                      <a:r>
                        <a:rPr lang="en-US" sz="1100" b="1" dirty="0"/>
                        <a:t>high AOV (</a:t>
                      </a:r>
                      <a:r>
                        <a:rPr lang="en-TH" sz="1100" b="1" dirty="0"/>
                        <a:t>₹10</a:t>
                      </a:r>
                      <a:r>
                        <a:rPr lang="en-US" sz="1100" b="1" dirty="0"/>
                        <a:t>k–</a:t>
                      </a:r>
                      <a:r>
                        <a:rPr lang="en-TH" sz="1100" b="1" dirty="0"/>
                        <a:t>₹12</a:t>
                      </a:r>
                      <a:r>
                        <a:rPr lang="en-US" sz="1100" b="1" dirty="0"/>
                        <a:t>k) </a:t>
                      </a:r>
                      <a:r>
                        <a:rPr lang="en-US" sz="1100" dirty="0"/>
                        <a:t>often received </a:t>
                      </a:r>
                      <a:r>
                        <a:rPr lang="en-US" sz="1100" b="1" dirty="0">
                          <a:solidFill>
                            <a:srgbClr val="00B050"/>
                          </a:solidFill>
                        </a:rPr>
                        <a:t>smaller discounts (50–60%) </a:t>
                      </a:r>
                      <a:r>
                        <a:rPr lang="en-US" sz="1100" dirty="0"/>
                        <a:t>and still converted.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Don’t</a:t>
                      </a:r>
                      <a:r>
                        <a:rPr lang="en-US" sz="1100" dirty="0"/>
                        <a:t> </a:t>
                      </a:r>
                      <a:r>
                        <a:rPr lang="en-US" sz="1100" b="1" dirty="0"/>
                        <a:t>over-discount top spenders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</a:t>
                      </a:r>
                      <a:r>
                        <a:rPr lang="en-US" sz="1100" b="1" dirty="0"/>
                        <a:t>Offer value-adds or VIP tiers </a:t>
                      </a:r>
                      <a:r>
                        <a:rPr lang="en-US" sz="1100" dirty="0"/>
                        <a:t>like </a:t>
                      </a:r>
                      <a:r>
                        <a:rPr lang="en-US" sz="1100" u="sng" dirty="0"/>
                        <a:t>early access or exclusive deals </a:t>
                      </a:r>
                      <a:r>
                        <a:rPr lang="en-US" sz="1100" dirty="0"/>
                        <a:t>instead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161722"/>
                  </a:ext>
                </a:extLst>
              </a:tr>
              <a:tr h="736270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Electronics buyers are satisfied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Repeat Electronics </a:t>
                      </a:r>
                      <a:r>
                        <a:rPr lang="en-US" sz="1100" dirty="0"/>
                        <a:t>customers have </a:t>
                      </a:r>
                      <a:r>
                        <a:rPr lang="en-US" sz="1100" b="1" dirty="0">
                          <a:solidFill>
                            <a:srgbClr val="00B050"/>
                          </a:solidFill>
                        </a:rPr>
                        <a:t>higher product ratings (4.0–4.5).</a:t>
                      </a:r>
                    </a:p>
                    <a:p>
                      <a:pPr algn="ctr"/>
                      <a:r>
                        <a:rPr lang="en-US" sz="1100" dirty="0"/>
                        <a:t> 92% of revenue is from new users, but repeat buyers spend more.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Reduce discounts </a:t>
                      </a:r>
                      <a:r>
                        <a:rPr lang="en-US" sz="1100" dirty="0"/>
                        <a:t>for repeat buyers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Offer </a:t>
                      </a:r>
                      <a:r>
                        <a:rPr lang="en-US" sz="1100" b="1" dirty="0"/>
                        <a:t>loyalty packages </a:t>
                      </a:r>
                      <a:r>
                        <a:rPr lang="en-US" sz="1100" dirty="0"/>
                        <a:t>to reinforce satisfaction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5121629"/>
                  </a:ext>
                </a:extLst>
              </a:tr>
              <a:tr h="736270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Computers are price-sensitive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Most buyers </a:t>
                      </a:r>
                      <a:r>
                        <a:rPr lang="en-US" sz="1100" dirty="0"/>
                        <a:t>have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low AOV </a:t>
                      </a:r>
                      <a:r>
                        <a:rPr lang="en-US" sz="1100" dirty="0"/>
                        <a:t>(</a:t>
                      </a:r>
                      <a:r>
                        <a:rPr lang="en-TH" sz="1100" dirty="0"/>
                        <a:t>₹1</a:t>
                      </a:r>
                      <a:r>
                        <a:rPr lang="en-US" sz="1100" dirty="0"/>
                        <a:t>k–2k) but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high discounts (70–100%).</a:t>
                      </a:r>
                      <a:r>
                        <a:rPr lang="en-US" sz="1100" dirty="0"/>
                        <a:t> </a:t>
                      </a:r>
                    </a:p>
                    <a:p>
                      <a:pPr algn="ctr"/>
                      <a:r>
                        <a:rPr lang="en-US" sz="1100" dirty="0"/>
                        <a:t>Minor group is high-spending cluster &amp; repeated customer.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 </a:t>
                      </a:r>
                      <a:r>
                        <a:rPr lang="en-US" sz="1100" u="sng" dirty="0"/>
                        <a:t>Target discounts </a:t>
                      </a:r>
                      <a:r>
                        <a:rPr lang="en-US" sz="1100" dirty="0"/>
                        <a:t>to </a:t>
                      </a:r>
                      <a:r>
                        <a:rPr lang="en-US" sz="1100" b="1" dirty="0"/>
                        <a:t>low spenders</a:t>
                      </a:r>
                      <a:r>
                        <a:rPr lang="en-US" sz="1100" dirty="0"/>
                        <a:t> only</a:t>
                      </a:r>
                      <a:br>
                        <a:rPr lang="en-US" sz="1100" dirty="0"/>
                      </a:br>
                      <a:r>
                        <a:rPr lang="en-US" sz="1100" b="1" dirty="0"/>
                        <a:t>- Bundle offers </a:t>
                      </a:r>
                      <a:r>
                        <a:rPr lang="en-US" sz="1100" dirty="0"/>
                        <a:t>to raise order value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Retarget within </a:t>
                      </a:r>
                      <a:r>
                        <a:rPr lang="en-US" sz="1100" b="1" dirty="0"/>
                        <a:t>72h after purchase</a:t>
                      </a:r>
                      <a:endParaRPr lang="en-TH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529770"/>
                  </a:ext>
                </a:extLst>
              </a:tr>
              <a:tr h="736270">
                <a:tc>
                  <a:txBody>
                    <a:bodyPr/>
                    <a:lstStyle/>
                    <a:p>
                      <a:pPr algn="ctr"/>
                      <a:r>
                        <a:rPr lang="en-TH" sz="11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Home &amp; Kitchen is promising</a:t>
                      </a:r>
                      <a:endParaRPr lang="en-TH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92D050"/>
                          </a:solidFill>
                        </a:rPr>
                        <a:t>High ratings </a:t>
                      </a:r>
                      <a:r>
                        <a:rPr lang="en-US" sz="1100" dirty="0"/>
                        <a:t>(4.2–4.5), </a:t>
                      </a:r>
                      <a:r>
                        <a:rPr lang="en-US" sz="1100" b="1" dirty="0">
                          <a:solidFill>
                            <a:srgbClr val="92D050"/>
                          </a:solidFill>
                        </a:rPr>
                        <a:t>moderate AOV </a:t>
                      </a:r>
                      <a:r>
                        <a:rPr lang="en-US" sz="1100" dirty="0"/>
                        <a:t>(~</a:t>
                      </a:r>
                      <a:r>
                        <a:rPr lang="en-TH" sz="1100" dirty="0"/>
                        <a:t>₹2.3</a:t>
                      </a:r>
                      <a:r>
                        <a:rPr lang="en-US" sz="1100" dirty="0"/>
                        <a:t>k–</a:t>
                      </a:r>
                      <a:r>
                        <a:rPr lang="en-TH" sz="1100" dirty="0"/>
                        <a:t>₹2.4</a:t>
                      </a:r>
                      <a:r>
                        <a:rPr lang="en-US" sz="1100" dirty="0"/>
                        <a:t>k), but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low retention</a:t>
                      </a:r>
                      <a:r>
                        <a:rPr lang="en-US" sz="1100" dirty="0"/>
                        <a:t>. </a:t>
                      </a:r>
                    </a:p>
                    <a:p>
                      <a:pPr algn="ctr"/>
                      <a:r>
                        <a:rPr lang="en-US" sz="1100" dirty="0"/>
                        <a:t>Majority are new buyers.</a:t>
                      </a:r>
                      <a:endParaRPr lang="en-TH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- Use heavier promos to upsell low-AOV users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- Launch r</a:t>
                      </a:r>
                      <a:r>
                        <a:rPr lang="en-US" sz="1100" b="1" dirty="0"/>
                        <a:t>etention packages </a:t>
                      </a:r>
                      <a:r>
                        <a:rPr lang="en-US" sz="1100" dirty="0"/>
                        <a:t>for high-rated buyers</a:t>
                      </a:r>
                      <a:endParaRPr lang="en-TH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051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173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43795-DD45-496A-A9C1-82AF45DDD4E2}"/>
              </a:ext>
            </a:extLst>
          </p:cNvPr>
          <p:cNvSpPr txBox="1"/>
          <p:nvPr/>
        </p:nvSpPr>
        <p:spPr>
          <a:xfrm>
            <a:off x="1235228" y="868114"/>
            <a:ext cx="2899975" cy="932778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Cohort analysis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02ADE-73BA-4BC0-A0DE-1DD88066303A}"/>
              </a:ext>
            </a:extLst>
          </p:cNvPr>
          <p:cNvSpPr/>
          <p:nvPr/>
        </p:nvSpPr>
        <p:spPr>
          <a:xfrm>
            <a:off x="1050678" y="646043"/>
            <a:ext cx="2899975" cy="1079733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DB371C-D47E-4868-8193-EB4A30D389AD}"/>
              </a:ext>
            </a:extLst>
          </p:cNvPr>
          <p:cNvSpPr/>
          <p:nvPr/>
        </p:nvSpPr>
        <p:spPr>
          <a:xfrm>
            <a:off x="1050678" y="1716774"/>
            <a:ext cx="3631794" cy="470890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B2793266-D514-4CD6-A989-65A80987CCAE}"/>
              </a:ext>
            </a:extLst>
          </p:cNvPr>
          <p:cNvSpPr txBox="1">
            <a:spLocks/>
          </p:cNvSpPr>
          <p:nvPr/>
        </p:nvSpPr>
        <p:spPr>
          <a:xfrm>
            <a:off x="2208478" y="5712777"/>
            <a:ext cx="2820722" cy="664474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597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09401" y="-117176"/>
            <a:ext cx="11573197" cy="724247"/>
          </a:xfrm>
        </p:spPr>
        <p:txBody>
          <a:bodyPr/>
          <a:lstStyle/>
          <a:p>
            <a:r>
              <a:rPr lang="en-US" sz="2500" dirty="0"/>
              <a:t>Overall Cohort Analysis : Overall Cohort Analysis: User Retention &amp; Drop-off</a:t>
            </a:r>
          </a:p>
        </p:txBody>
      </p:sp>
      <p:grpSp>
        <p:nvGrpSpPr>
          <p:cNvPr id="24" name="Group 33">
            <a:extLst>
              <a:ext uri="{FF2B5EF4-FFF2-40B4-BE49-F238E27FC236}">
                <a16:creationId xmlns:a16="http://schemas.microsoft.com/office/drawing/2014/main" id="{25FD6A15-7BEC-4646-8A35-3D7EAAEEC293}"/>
              </a:ext>
            </a:extLst>
          </p:cNvPr>
          <p:cNvGrpSpPr/>
          <p:nvPr/>
        </p:nvGrpSpPr>
        <p:grpSpPr>
          <a:xfrm>
            <a:off x="871476" y="5070173"/>
            <a:ext cx="1731699" cy="560658"/>
            <a:chOff x="993672" y="3632214"/>
            <a:chExt cx="1989414" cy="56065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B08EFA-738B-4652-9FFA-0865B3D0EADF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C69161-B1E8-4032-A78B-1AC2367A0293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30" name="Group 39">
            <a:extLst>
              <a:ext uri="{FF2B5EF4-FFF2-40B4-BE49-F238E27FC236}">
                <a16:creationId xmlns:a16="http://schemas.microsoft.com/office/drawing/2014/main" id="{E9BDEBD6-719A-4C60-A2B4-A56B5B070FDD}"/>
              </a:ext>
            </a:extLst>
          </p:cNvPr>
          <p:cNvGrpSpPr/>
          <p:nvPr/>
        </p:nvGrpSpPr>
        <p:grpSpPr>
          <a:xfrm>
            <a:off x="5132703" y="5702211"/>
            <a:ext cx="1731699" cy="560658"/>
            <a:chOff x="993672" y="3632214"/>
            <a:chExt cx="1989414" cy="56065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C019CA-7396-4E6E-AC39-7DC1AF7C7554}"/>
                </a:ext>
              </a:extLst>
            </p:cNvPr>
            <p:cNvSpPr txBox="1"/>
            <p:nvPr/>
          </p:nvSpPr>
          <p:spPr>
            <a:xfrm>
              <a:off x="993672" y="3632214"/>
              <a:ext cx="1989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DABF98-4DF5-4D47-8E61-D3B35874354E}"/>
                </a:ext>
              </a:extLst>
            </p:cNvPr>
            <p:cNvSpPr txBox="1"/>
            <p:nvPr/>
          </p:nvSpPr>
          <p:spPr>
            <a:xfrm>
              <a:off x="993672" y="3915873"/>
              <a:ext cx="19894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2C62A46-252D-7142-BC20-12FD00B73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266874"/>
              </p:ext>
            </p:extLst>
          </p:nvPr>
        </p:nvGraphicFramePr>
        <p:xfrm>
          <a:off x="15675" y="5264499"/>
          <a:ext cx="12192002" cy="14909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503">
                  <a:extLst>
                    <a:ext uri="{9D8B030D-6E8A-4147-A177-3AD203B41FA5}">
                      <a16:colId xmlns:a16="http://schemas.microsoft.com/office/drawing/2014/main" val="680537318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293116338"/>
                    </a:ext>
                  </a:extLst>
                </a:gridCol>
                <a:gridCol w="4166648">
                  <a:extLst>
                    <a:ext uri="{9D8B030D-6E8A-4147-A177-3AD203B41FA5}">
                      <a16:colId xmlns:a16="http://schemas.microsoft.com/office/drawing/2014/main" val="1043574207"/>
                    </a:ext>
                  </a:extLst>
                </a:gridCol>
                <a:gridCol w="3048001">
                  <a:extLst>
                    <a:ext uri="{9D8B030D-6E8A-4147-A177-3AD203B41FA5}">
                      <a16:colId xmlns:a16="http://schemas.microsoft.com/office/drawing/2014/main" val="1522461148"/>
                    </a:ext>
                  </a:extLst>
                </a:gridCol>
              </a:tblGrid>
              <a:tr h="253152"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Implication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Suggested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00695"/>
                  </a:ext>
                </a:extLst>
              </a:tr>
              <a:tr h="421921">
                <a:tc rowSpan="2"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Total unique users </a:t>
                      </a:r>
                    </a:p>
                    <a:p>
                      <a:pPr algn="ctr"/>
                      <a:r>
                        <a:rPr lang="en-TH" sz="1200" dirty="0"/>
                        <a:t>&amp; </a:t>
                      </a:r>
                    </a:p>
                    <a:p>
                      <a:pPr algn="ctr"/>
                      <a:r>
                        <a:rPr lang="en-TH" sz="1200" dirty="0"/>
                        <a:t>% Retained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Initial </a:t>
                      </a:r>
                      <a:r>
                        <a:rPr lang="en-US" sz="1200" b="1" dirty="0"/>
                        <a:t>cohort size </a:t>
                      </a:r>
                      <a:r>
                        <a:rPr lang="en-US" sz="1200" dirty="0"/>
                        <a:t>remains </a:t>
                      </a:r>
                      <a:r>
                        <a:rPr lang="en-US" sz="1200" b="1" dirty="0">
                          <a:solidFill>
                            <a:srgbClr val="00B050"/>
                          </a:solidFill>
                        </a:rPr>
                        <a:t>strong </a:t>
                      </a:r>
                      <a:r>
                        <a:rPr lang="en-US" sz="1200" dirty="0"/>
                        <a:t>across weeks (1,000–1,300+ new users weekly).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Amazon </a:t>
                      </a:r>
                      <a:r>
                        <a:rPr lang="en-TH" sz="1200" dirty="0">
                          <a:solidFill>
                            <a:srgbClr val="FF0000"/>
                          </a:solidFill>
                        </a:rPr>
                        <a:t>struggles </a:t>
                      </a:r>
                      <a:r>
                        <a:rPr lang="en-TH" sz="1200" dirty="0"/>
                        <a:t>to </a:t>
                      </a:r>
                      <a:r>
                        <a:rPr lang="en-TH" sz="1200" b="1" dirty="0"/>
                        <a:t>retain users </a:t>
                      </a:r>
                      <a:r>
                        <a:rPr lang="en-TH" sz="1200" dirty="0"/>
                        <a:t>after the first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Launch </a:t>
                      </a:r>
                      <a:r>
                        <a:rPr lang="en-TH" sz="1200" b="1" dirty="0"/>
                        <a:t>post-purchase</a:t>
                      </a:r>
                      <a:r>
                        <a:rPr lang="en-TH" sz="1200" dirty="0"/>
                        <a:t> engagement &amp; campaigns appealing </a:t>
                      </a:r>
                      <a:r>
                        <a:rPr lang="en-TH" sz="1200" b="1" dirty="0"/>
                        <a:t>2nd purchase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4887141"/>
                  </a:ext>
                </a:extLst>
              </a:tr>
              <a:tr h="759457">
                <a:tc vMerge="1">
                  <a:txBody>
                    <a:bodyPr/>
                    <a:lstStyle/>
                    <a:p>
                      <a:pPr algn="ctr"/>
                      <a:endParaRPr lang="en-T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Extremely low user retention after Week00 — most cohorts drop to </a:t>
                      </a:r>
                      <a:r>
                        <a:rPr lang="en-US" sz="1200" b="1" dirty="0"/>
                        <a:t>&lt;2%</a:t>
                      </a:r>
                      <a:r>
                        <a:rPr lang="en-US" sz="1200" dirty="0"/>
                        <a:t> by Week01.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This shows the </a:t>
                      </a:r>
                      <a:r>
                        <a:rPr lang="en-TH" sz="1200" dirty="0">
                          <a:highlight>
                            <a:srgbClr val="FFFF00"/>
                          </a:highlight>
                        </a:rPr>
                        <a:t>same insight </a:t>
                      </a:r>
                      <a:r>
                        <a:rPr lang="en-TH" sz="1200" dirty="0"/>
                        <a:t>with first part of analysis that </a:t>
                      </a:r>
                      <a:r>
                        <a:rPr lang="en-US" sz="1200" dirty="0"/>
                        <a:t>most buyers are </a:t>
                      </a:r>
                      <a:r>
                        <a:rPr lang="en-US" sz="1200" b="1" dirty="0"/>
                        <a:t>1-time users (~93%) </a:t>
                      </a:r>
                      <a:r>
                        <a:rPr lang="en-US" sz="1200" b="0" dirty="0"/>
                        <a:t>which they seem to churn immediately</a:t>
                      </a:r>
                      <a:endParaRPr lang="en-TH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Launch </a:t>
                      </a:r>
                      <a:r>
                        <a:rPr lang="en-TH" sz="1200" b="1" dirty="0"/>
                        <a:t>re-engagement &amp; retarget </a:t>
                      </a:r>
                      <a:r>
                        <a:rPr lang="en-TH" sz="1200" dirty="0"/>
                        <a:t>campaigns to follow up users within 3-5 days after purchase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285845"/>
                  </a:ext>
                </a:extLst>
              </a:tr>
            </a:tbl>
          </a:graphicData>
        </a:graphic>
      </p:graphicFrame>
      <p:pic>
        <p:nvPicPr>
          <p:cNvPr id="28" name="Picture 27" descr="A screenshot of a graph&#10;&#10;AI-generated content may be incorrect.">
            <a:extLst>
              <a:ext uri="{FF2B5EF4-FFF2-40B4-BE49-F238E27FC236}">
                <a16:creationId xmlns:a16="http://schemas.microsoft.com/office/drawing/2014/main" id="{EA4473C4-C4DF-C43B-4343-5822751F3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0"/>
          <a:stretch>
            <a:fillRect/>
          </a:stretch>
        </p:blipFill>
        <p:spPr>
          <a:xfrm>
            <a:off x="1737325" y="2775408"/>
            <a:ext cx="8127999" cy="2464240"/>
          </a:xfrm>
          <a:prstGeom prst="rect">
            <a:avLst/>
          </a:prstGeom>
        </p:spPr>
      </p:pic>
      <p:pic>
        <p:nvPicPr>
          <p:cNvPr id="37" name="Picture 36" descr="A screenshot of a report&#10;&#10;AI-generated content may be incorrect.">
            <a:extLst>
              <a:ext uri="{FF2B5EF4-FFF2-40B4-BE49-F238E27FC236}">
                <a16:creationId xmlns:a16="http://schemas.microsoft.com/office/drawing/2014/main" id="{98C7763D-DED1-467A-B900-93EE3AF88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7"/>
          <a:stretch>
            <a:fillRect/>
          </a:stretch>
        </p:blipFill>
        <p:spPr>
          <a:xfrm>
            <a:off x="1737325" y="374382"/>
            <a:ext cx="8215760" cy="24642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F057A85-463C-C7CC-B260-1E8F97697875}"/>
              </a:ext>
            </a:extLst>
          </p:cNvPr>
          <p:cNvSpPr txBox="1"/>
          <p:nvPr/>
        </p:nvSpPr>
        <p:spPr>
          <a:xfrm>
            <a:off x="2328418" y="3211940"/>
            <a:ext cx="1140605" cy="202770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AC28D5-7B1A-C0C3-E188-13DCE927F916}"/>
              </a:ext>
            </a:extLst>
          </p:cNvPr>
          <p:cNvSpPr txBox="1"/>
          <p:nvPr/>
        </p:nvSpPr>
        <p:spPr>
          <a:xfrm>
            <a:off x="3695307" y="3211939"/>
            <a:ext cx="556182" cy="20277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6487CB-55DC-13EF-71B8-F36B47ABAAB6}"/>
              </a:ext>
            </a:extLst>
          </p:cNvPr>
          <p:cNvSpPr txBox="1"/>
          <p:nvPr/>
        </p:nvSpPr>
        <p:spPr>
          <a:xfrm>
            <a:off x="4334872" y="4789440"/>
            <a:ext cx="3605641" cy="430887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Extremely low </a:t>
            </a:r>
            <a:r>
              <a:rPr lang="en-US" sz="1100" u="sng" dirty="0"/>
              <a:t>user retention </a:t>
            </a:r>
            <a:r>
              <a:rPr lang="en-US" sz="1100" dirty="0"/>
              <a:t>after Week00 — cohorts drop to an average of just </a:t>
            </a:r>
            <a:r>
              <a:rPr lang="en-US" sz="1100" b="1" dirty="0">
                <a:solidFill>
                  <a:srgbClr val="FF0000"/>
                </a:solidFill>
              </a:rPr>
              <a:t>~1% </a:t>
            </a:r>
            <a:r>
              <a:rPr lang="en-US" sz="1100" dirty="0"/>
              <a:t>by Week01.</a:t>
            </a:r>
            <a:endParaRPr lang="en-TH" sz="1100" dirty="0"/>
          </a:p>
        </p:txBody>
      </p:sp>
    </p:spTree>
    <p:extLst>
      <p:ext uri="{BB962C8B-B14F-4D97-AF65-F5344CB8AC3E}">
        <p14:creationId xmlns:p14="http://schemas.microsoft.com/office/powerpoint/2010/main" val="3192127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3A471-4405-4F15-3950-28A7F52A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348619-C6ED-9579-FD03-62BC376E4A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821816" y="-122549"/>
            <a:ext cx="14264438" cy="724247"/>
          </a:xfrm>
        </p:spPr>
        <p:txBody>
          <a:bodyPr/>
          <a:lstStyle/>
          <a:p>
            <a:r>
              <a:rPr lang="en-US" sz="2400" dirty="0"/>
              <a:t>Overall Cohort Analysis :Actual price &amp; Actual price %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AEF8C3D-E5B4-41EB-DCBB-7F1633E8E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3" b="5749"/>
          <a:stretch>
            <a:fillRect/>
          </a:stretch>
        </p:blipFill>
        <p:spPr>
          <a:xfrm>
            <a:off x="2301676" y="435008"/>
            <a:ext cx="7620000" cy="2168296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22F95935-0370-7E60-9A25-C02E392A9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2"/>
          <a:stretch>
            <a:fillRect/>
          </a:stretch>
        </p:blipFill>
        <p:spPr>
          <a:xfrm>
            <a:off x="2257624" y="2603304"/>
            <a:ext cx="7632700" cy="217798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2393110-ADE7-87EB-9261-1D836C095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549802"/>
              </p:ext>
            </p:extLst>
          </p:nvPr>
        </p:nvGraphicFramePr>
        <p:xfrm>
          <a:off x="200290" y="4919813"/>
          <a:ext cx="11822771" cy="1673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16">
                  <a:extLst>
                    <a:ext uri="{9D8B030D-6E8A-4147-A177-3AD203B41FA5}">
                      <a16:colId xmlns:a16="http://schemas.microsoft.com/office/drawing/2014/main" val="1260132222"/>
                    </a:ext>
                  </a:extLst>
                </a:gridCol>
                <a:gridCol w="3691688">
                  <a:extLst>
                    <a:ext uri="{9D8B030D-6E8A-4147-A177-3AD203B41FA5}">
                      <a16:colId xmlns:a16="http://schemas.microsoft.com/office/drawing/2014/main" val="2293116338"/>
                    </a:ext>
                  </a:extLst>
                </a:gridCol>
                <a:gridCol w="4098218">
                  <a:extLst>
                    <a:ext uri="{9D8B030D-6E8A-4147-A177-3AD203B41FA5}">
                      <a16:colId xmlns:a16="http://schemas.microsoft.com/office/drawing/2014/main" val="1043574207"/>
                    </a:ext>
                  </a:extLst>
                </a:gridCol>
                <a:gridCol w="2999149">
                  <a:extLst>
                    <a:ext uri="{9D8B030D-6E8A-4147-A177-3AD203B41FA5}">
                      <a16:colId xmlns:a16="http://schemas.microsoft.com/office/drawing/2014/main" val="1522461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Implication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Suggested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00695"/>
                  </a:ext>
                </a:extLst>
              </a:tr>
              <a:tr h="4219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Revenue (Actual Price)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Week00 </a:t>
                      </a:r>
                      <a:r>
                        <a:rPr lang="en-US" sz="1200" dirty="0"/>
                        <a:t>contributes nearly all revenue; </a:t>
                      </a:r>
                    </a:p>
                    <a:p>
                      <a:pPr algn="ctr"/>
                      <a:r>
                        <a:rPr lang="en-US" sz="1200" dirty="0"/>
                        <a:t>following weeks show significant drop-off.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highlight>
                            <a:srgbClr val="FFFF00"/>
                          </a:highlight>
                        </a:rPr>
                        <a:t>Most revenue </a:t>
                      </a:r>
                      <a:r>
                        <a:rPr lang="en-US" sz="1200" dirty="0"/>
                        <a:t>comes from </a:t>
                      </a:r>
                      <a:r>
                        <a:rPr lang="en-US" sz="1200" b="1" dirty="0"/>
                        <a:t>new users</a:t>
                      </a:r>
                      <a:r>
                        <a:rPr lang="en-US" sz="1200" dirty="0"/>
                        <a:t>; </a:t>
                      </a:r>
                    </a:p>
                    <a:p>
                      <a:pPr algn="ctr"/>
                      <a:r>
                        <a:rPr lang="en-US" sz="1200" b="1" dirty="0"/>
                        <a:t>returning customers </a:t>
                      </a:r>
                      <a:r>
                        <a:rPr lang="en-US" sz="1200" dirty="0"/>
                        <a:t>contribute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very little.</a:t>
                      </a:r>
                      <a:endParaRPr lang="en-TH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Offer </a:t>
                      </a:r>
                      <a:r>
                        <a:rPr lang="en-TH" sz="1200" b="1" dirty="0"/>
                        <a:t>Bundles</a:t>
                      </a:r>
                      <a:r>
                        <a:rPr lang="en-TH" sz="1200" dirty="0"/>
                        <a:t> or </a:t>
                      </a:r>
                      <a:r>
                        <a:rPr lang="en-TH" sz="1200" b="1" dirty="0"/>
                        <a:t>loyalty programs</a:t>
                      </a:r>
                    </a:p>
                    <a:p>
                      <a:pPr algn="ctr"/>
                      <a:r>
                        <a:rPr lang="en-US" sz="1200" b="0" i="1" dirty="0"/>
                        <a:t>to increase revenue per order </a:t>
                      </a:r>
                    </a:p>
                    <a:p>
                      <a:pPr algn="ctr"/>
                      <a:r>
                        <a:rPr lang="en-US" sz="1200" b="0" i="1" dirty="0"/>
                        <a:t>&amp; </a:t>
                      </a:r>
                    </a:p>
                    <a:p>
                      <a:pPr algn="ctr"/>
                      <a:r>
                        <a:rPr lang="en-US" sz="1200" b="0" i="1" dirty="0"/>
                        <a:t>Convert users to </a:t>
                      </a:r>
                      <a:r>
                        <a:rPr lang="en-US" sz="1200" b="1" i="1" dirty="0"/>
                        <a:t>be </a:t>
                      </a:r>
                      <a:r>
                        <a:rPr lang="en-US" sz="1200" b="1" i="1" dirty="0">
                          <a:highlight>
                            <a:srgbClr val="FFFF00"/>
                          </a:highlight>
                        </a:rPr>
                        <a:t>repeat buyers</a:t>
                      </a:r>
                      <a:endParaRPr lang="en-TH" sz="1200" b="1" i="1" dirty="0"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4887141"/>
                  </a:ext>
                </a:extLst>
              </a:tr>
              <a:tr h="759457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H" sz="1200" dirty="0"/>
                        <a:t>% Revenue Retained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Week01–Week07 contribute </a:t>
                      </a:r>
                      <a:r>
                        <a:rPr 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&lt; 3% </a:t>
                      </a:r>
                    </a:p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actual revenue in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 cohorts.</a:t>
                      </a:r>
                      <a:endParaRPr lang="en-TH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It's 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hard </a:t>
                      </a:r>
                      <a:r>
                        <a:rPr lang="en-US" sz="1200" dirty="0"/>
                        <a:t>to</a:t>
                      </a:r>
                      <a:r>
                        <a:rPr lang="en-US" sz="1200" b="1" dirty="0"/>
                        <a:t> keep revenue steady </a:t>
                      </a:r>
                      <a:r>
                        <a:rPr lang="en-US" sz="1200" dirty="0"/>
                        <a:t>because most customers 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don’t come back </a:t>
                      </a:r>
                      <a:r>
                        <a:rPr lang="en-US" sz="1200" dirty="0"/>
                        <a:t>or spend much over time.</a:t>
                      </a:r>
                      <a:endParaRPr lang="en-TH" sz="12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28584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208C99-D5E7-8248-F1A0-DA95448E63E6}"/>
              </a:ext>
            </a:extLst>
          </p:cNvPr>
          <p:cNvSpPr txBox="1"/>
          <p:nvPr/>
        </p:nvSpPr>
        <p:spPr>
          <a:xfrm>
            <a:off x="4072378" y="2918207"/>
            <a:ext cx="5817945" cy="1863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96BB19-EDE5-D029-0D48-8F797BB30E88}"/>
              </a:ext>
            </a:extLst>
          </p:cNvPr>
          <p:cNvSpPr txBox="1"/>
          <p:nvPr/>
        </p:nvSpPr>
        <p:spPr>
          <a:xfrm>
            <a:off x="8312984" y="3849747"/>
            <a:ext cx="2461853" cy="26161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Every week is less than 3%</a:t>
            </a:r>
            <a:endParaRPr lang="en-TH" sz="1100" dirty="0"/>
          </a:p>
        </p:txBody>
      </p:sp>
    </p:spTree>
    <p:extLst>
      <p:ext uri="{BB962C8B-B14F-4D97-AF65-F5344CB8AC3E}">
        <p14:creationId xmlns:p14="http://schemas.microsoft.com/office/powerpoint/2010/main" val="613633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E4838E-996A-10F5-9BB1-BC2543CD15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TH" sz="3000" dirty="0"/>
              <a:t>Cohort Analysis : Key Insights and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85478-D19D-71F6-A589-3A765D0566F7}"/>
              </a:ext>
            </a:extLst>
          </p:cNvPr>
          <p:cNvSpPr txBox="1"/>
          <p:nvPr/>
        </p:nvSpPr>
        <p:spPr>
          <a:xfrm>
            <a:off x="2914102" y="1177237"/>
            <a:ext cx="7755813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Amazon </a:t>
            </a:r>
            <a:r>
              <a:rPr lang="en-US" sz="1600" b="1" dirty="0"/>
              <a:t>consistently acquires </a:t>
            </a:r>
            <a:r>
              <a:rPr lang="en-US" sz="1600" dirty="0"/>
              <a:t>~1,000–1,300 </a:t>
            </a:r>
            <a:r>
              <a:rPr lang="en-US" sz="1600" dirty="0">
                <a:solidFill>
                  <a:srgbClr val="00B050"/>
                </a:solidFill>
              </a:rPr>
              <a:t>new users </a:t>
            </a:r>
            <a:r>
              <a:rPr lang="en-US" sz="1600" dirty="0"/>
              <a:t>per week, indicating a strong and reliable acquisition channel.</a:t>
            </a:r>
            <a:endParaRPr lang="en-TH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CD581-5ABF-B21E-D5ED-C2EAED02F4A9}"/>
              </a:ext>
            </a:extLst>
          </p:cNvPr>
          <p:cNvSpPr txBox="1"/>
          <p:nvPr/>
        </p:nvSpPr>
        <p:spPr>
          <a:xfrm>
            <a:off x="187617" y="1268839"/>
            <a:ext cx="55867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cs typeface="Arial" pitchFamily="34" charset="0"/>
              </a:rPr>
              <a:t>1</a:t>
            </a:r>
            <a:endParaRPr lang="en-US" altLang="ko-KR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1A16E-6357-EA45-903D-DB5E9659F71C}"/>
              </a:ext>
            </a:extLst>
          </p:cNvPr>
          <p:cNvSpPr txBox="1"/>
          <p:nvPr/>
        </p:nvSpPr>
        <p:spPr>
          <a:xfrm>
            <a:off x="242582" y="2849280"/>
            <a:ext cx="55867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cs typeface="Arial" pitchFamily="34" charset="0"/>
              </a:rPr>
              <a:t>2</a:t>
            </a:r>
            <a:endParaRPr lang="en-US" altLang="ko-KR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D3594-B36A-5825-DC51-A9BA58A2922F}"/>
              </a:ext>
            </a:extLst>
          </p:cNvPr>
          <p:cNvSpPr txBox="1"/>
          <p:nvPr/>
        </p:nvSpPr>
        <p:spPr>
          <a:xfrm>
            <a:off x="2914101" y="1955049"/>
            <a:ext cx="7755813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Maintain same level of acquisition and on top is to focus on retaining customer</a:t>
            </a:r>
            <a:endParaRPr lang="en-TH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12815-8E55-F37E-0F2E-72DC0813B1E7}"/>
              </a:ext>
            </a:extLst>
          </p:cNvPr>
          <p:cNvSpPr txBox="1"/>
          <p:nvPr/>
        </p:nvSpPr>
        <p:spPr>
          <a:xfrm>
            <a:off x="2914100" y="2743479"/>
            <a:ext cx="7755814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sz="1600" dirty="0">
                <a:solidFill>
                  <a:srgbClr val="FF0000"/>
                </a:solidFill>
              </a:rPr>
              <a:t>Retention rate is &lt; 2% </a:t>
            </a:r>
            <a:r>
              <a:rPr lang="en-TH" sz="1600" dirty="0"/>
              <a:t>return after Week01 meaning that </a:t>
            </a:r>
          </a:p>
          <a:p>
            <a:pPr algn="ctr"/>
            <a:r>
              <a:rPr lang="en-TH" sz="1600" dirty="0"/>
              <a:t>users don’t </a:t>
            </a:r>
            <a:r>
              <a:rPr lang="en-US" sz="1600" dirty="0"/>
              <a:t>return after first purchase</a:t>
            </a:r>
            <a:endParaRPr lang="en-TH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F46A9-099B-419B-44AC-34E7FE0479D2}"/>
              </a:ext>
            </a:extLst>
          </p:cNvPr>
          <p:cNvSpPr txBox="1"/>
          <p:nvPr/>
        </p:nvSpPr>
        <p:spPr>
          <a:xfrm>
            <a:off x="2914100" y="3486362"/>
            <a:ext cx="7755814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Engage users within 3-5 days after purchase to make them repurchase</a:t>
            </a:r>
            <a:endParaRPr lang="en-TH" sz="1600" dirty="0"/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E2E106A1-90C3-37E8-2B11-D13BD4229402}"/>
              </a:ext>
            </a:extLst>
          </p:cNvPr>
          <p:cNvSpPr/>
          <p:nvPr/>
        </p:nvSpPr>
        <p:spPr>
          <a:xfrm>
            <a:off x="970665" y="1186616"/>
            <a:ext cx="1494692" cy="497722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600" dirty="0"/>
              <a:t>Key insights</a:t>
            </a: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2BCD13E5-90DC-AF1A-54CF-FD939C4B1212}"/>
              </a:ext>
            </a:extLst>
          </p:cNvPr>
          <p:cNvSpPr/>
          <p:nvPr/>
        </p:nvSpPr>
        <p:spPr>
          <a:xfrm>
            <a:off x="970664" y="1883195"/>
            <a:ext cx="1494692" cy="493612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600" dirty="0"/>
              <a:t>Recommendations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BF3E8E93-7FFE-FD01-DEB9-0904CB661BC3}"/>
              </a:ext>
            </a:extLst>
          </p:cNvPr>
          <p:cNvSpPr/>
          <p:nvPr/>
        </p:nvSpPr>
        <p:spPr>
          <a:xfrm>
            <a:off x="970664" y="2759338"/>
            <a:ext cx="1494692" cy="497722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600" dirty="0"/>
              <a:t>Key insights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04C513DE-D923-B0A0-5706-2E0794FE0704}"/>
              </a:ext>
            </a:extLst>
          </p:cNvPr>
          <p:cNvSpPr/>
          <p:nvPr/>
        </p:nvSpPr>
        <p:spPr>
          <a:xfrm>
            <a:off x="998945" y="3455917"/>
            <a:ext cx="1494692" cy="493612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600" dirty="0"/>
              <a:t>Recommendations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977972-7287-EF68-61FE-2D3F5F1A712A}"/>
              </a:ext>
            </a:extLst>
          </p:cNvPr>
          <p:cNvSpPr txBox="1"/>
          <p:nvPr/>
        </p:nvSpPr>
        <p:spPr>
          <a:xfrm>
            <a:off x="285801" y="4849480"/>
            <a:ext cx="558675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4800" b="1" dirty="0">
                <a:solidFill>
                  <a:schemeClr val="accent2"/>
                </a:solidFill>
                <a:cs typeface="Arial" pitchFamily="34" charset="0"/>
              </a:rPr>
              <a:t>3</a:t>
            </a:r>
            <a:endParaRPr lang="en-US" altLang="ko-KR" sz="24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23E23A-231E-CEBF-19BA-E2CD1879545F}"/>
              </a:ext>
            </a:extLst>
          </p:cNvPr>
          <p:cNvSpPr txBox="1"/>
          <p:nvPr/>
        </p:nvSpPr>
        <p:spPr>
          <a:xfrm>
            <a:off x="2914101" y="4147531"/>
            <a:ext cx="7755814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Week00 contributes nearly all revenue;</a:t>
            </a:r>
            <a:r>
              <a:rPr lang="en-US" sz="1600" dirty="0"/>
              <a:t> very little is generated in the following weeks.</a:t>
            </a:r>
          </a:p>
          <a:p>
            <a:pPr algn="ctr"/>
            <a:r>
              <a:rPr lang="en-US" sz="1600" dirty="0"/>
              <a:t>Revenue heavily on new user acquisition; </a:t>
            </a:r>
            <a:r>
              <a:rPr lang="en-US" sz="1600" b="1" dirty="0"/>
              <a:t>repeat customers contribute minimally</a:t>
            </a:r>
            <a:r>
              <a:rPr lang="en-US" sz="1600" dirty="0"/>
              <a:t>, risking long-term revenue stability.</a:t>
            </a:r>
            <a:endParaRPr lang="en-TH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705C0-7ECE-AB14-ADF8-2F14DE8EED16}"/>
              </a:ext>
            </a:extLst>
          </p:cNvPr>
          <p:cNvSpPr txBox="1"/>
          <p:nvPr/>
        </p:nvSpPr>
        <p:spPr>
          <a:xfrm>
            <a:off x="2914100" y="5468608"/>
            <a:ext cx="7755814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Launch </a:t>
            </a:r>
            <a:r>
              <a:rPr lang="en-US" sz="1600" b="1" dirty="0"/>
              <a:t>bundled offers</a:t>
            </a:r>
            <a:r>
              <a:rPr lang="en-US" sz="1600" dirty="0"/>
              <a:t> or </a:t>
            </a:r>
            <a:r>
              <a:rPr lang="en-US" sz="1600" b="1" dirty="0"/>
              <a:t>loyalty programs</a:t>
            </a:r>
            <a:r>
              <a:rPr lang="en-US" sz="1600" dirty="0"/>
              <a:t> to raise order value</a:t>
            </a:r>
            <a:br>
              <a:rPr lang="en-US" sz="1600" dirty="0"/>
            </a:br>
            <a:r>
              <a:rPr lang="en-US" sz="1600" dirty="0"/>
              <a:t>&amp;</a:t>
            </a:r>
            <a:br>
              <a:rPr lang="en-US" sz="1600" dirty="0"/>
            </a:br>
            <a:r>
              <a:rPr lang="en-US" sz="1600" b="1" dirty="0"/>
              <a:t>Convert new users into repeat buyers</a:t>
            </a:r>
            <a:r>
              <a:rPr lang="en-US" sz="1600" dirty="0"/>
              <a:t> to improve retention-based revenue.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9B47445E-37AB-0F8A-E9A4-F3EA78CF8C6A}"/>
              </a:ext>
            </a:extLst>
          </p:cNvPr>
          <p:cNvSpPr/>
          <p:nvPr/>
        </p:nvSpPr>
        <p:spPr>
          <a:xfrm>
            <a:off x="1102641" y="4517988"/>
            <a:ext cx="1494692" cy="497722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600" dirty="0"/>
              <a:t>Key insights</a:t>
            </a: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1A2CFE9A-CB2E-389A-CDC6-B8E0FA3A110F}"/>
              </a:ext>
            </a:extLst>
          </p:cNvPr>
          <p:cNvSpPr/>
          <p:nvPr/>
        </p:nvSpPr>
        <p:spPr>
          <a:xfrm>
            <a:off x="1102641" y="5584169"/>
            <a:ext cx="1494692" cy="493612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6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733079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3ABD-F046-8AA7-7EC7-7DAB78F4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4D09262-DA75-8A8B-1294-61297BCB354B}"/>
              </a:ext>
            </a:extLst>
          </p:cNvPr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AE611-3021-DEAB-88F7-2D9EF4351880}"/>
              </a:ext>
            </a:extLst>
          </p:cNvPr>
          <p:cNvSpPr txBox="1"/>
          <p:nvPr/>
        </p:nvSpPr>
        <p:spPr>
          <a:xfrm>
            <a:off x="1235228" y="868114"/>
            <a:ext cx="3460008" cy="1079732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RFM Customer Segmentation	 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3A100F-3918-0316-7E9A-9DB533A5A6EE}"/>
              </a:ext>
            </a:extLst>
          </p:cNvPr>
          <p:cNvSpPr/>
          <p:nvPr/>
        </p:nvSpPr>
        <p:spPr>
          <a:xfrm>
            <a:off x="1050678" y="646043"/>
            <a:ext cx="2899975" cy="1079733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A38860-BDA9-5282-E372-F5E7BA14B79B}"/>
              </a:ext>
            </a:extLst>
          </p:cNvPr>
          <p:cNvSpPr/>
          <p:nvPr/>
        </p:nvSpPr>
        <p:spPr>
          <a:xfrm>
            <a:off x="1050678" y="1716774"/>
            <a:ext cx="3631794" cy="470890"/>
          </a:xfrm>
          <a:prstGeom prst="rect">
            <a:avLst/>
          </a:prstGeom>
          <a:noFill/>
        </p:spPr>
        <p:txBody>
          <a:bodyPr lIns="0" anchor="ctr"/>
          <a:lstStyle/>
          <a:p>
            <a:endParaRPr lang="en-US" altLang="ko-KR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96E7B353-9272-711A-D521-E127E22867FF}"/>
              </a:ext>
            </a:extLst>
          </p:cNvPr>
          <p:cNvSpPr txBox="1">
            <a:spLocks/>
          </p:cNvSpPr>
          <p:nvPr/>
        </p:nvSpPr>
        <p:spPr>
          <a:xfrm>
            <a:off x="2208478" y="5712777"/>
            <a:ext cx="2820722" cy="664474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dirty="0">
              <a:solidFill>
                <a:schemeClr val="bg1"/>
              </a:solidFill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B4CF62E-236A-74DC-9ADB-B47427C6FAD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773783" y="0"/>
            <a:ext cx="6418217" cy="6858000"/>
          </a:xfrm>
        </p:spPr>
        <p:txBody>
          <a:bodyPr/>
          <a:lstStyle/>
          <a:p>
            <a:r>
              <a:rPr lang="en-TH" dirty="0"/>
              <a:t>How Recent, How Frequent, How Much users bought? </a:t>
            </a:r>
          </a:p>
        </p:txBody>
      </p:sp>
    </p:spTree>
    <p:extLst>
      <p:ext uri="{BB962C8B-B14F-4D97-AF65-F5344CB8AC3E}">
        <p14:creationId xmlns:p14="http://schemas.microsoft.com/office/powerpoint/2010/main" val="2680775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6274A5-D00F-27A1-5870-6F94A87011A6}"/>
              </a:ext>
            </a:extLst>
          </p:cNvPr>
          <p:cNvSpPr txBox="1"/>
          <p:nvPr/>
        </p:nvSpPr>
        <p:spPr>
          <a:xfrm>
            <a:off x="5899690" y="2646249"/>
            <a:ext cx="59281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H" sz="3200" dirty="0"/>
              <a:t>Clustering with K-means algorithm</a:t>
            </a:r>
          </a:p>
        </p:txBody>
      </p:sp>
    </p:spTree>
    <p:extLst>
      <p:ext uri="{BB962C8B-B14F-4D97-AF65-F5344CB8AC3E}">
        <p14:creationId xmlns:p14="http://schemas.microsoft.com/office/powerpoint/2010/main" val="1166152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406E-BB0B-2F50-F609-2A751A9C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1E7C56-83CF-7E4B-ED01-FB0A3836C5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513701" y="73209"/>
            <a:ext cx="13369225" cy="724247"/>
          </a:xfrm>
        </p:spPr>
        <p:txBody>
          <a:bodyPr/>
          <a:lstStyle/>
          <a:p>
            <a:r>
              <a:rPr lang="en-TH" sz="4000" dirty="0"/>
              <a:t>Mean Recency,Frequency&amp;Monetary(RFM)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B633B-2812-4169-0201-CB7CE7B78F58}"/>
              </a:ext>
            </a:extLst>
          </p:cNvPr>
          <p:cNvSpPr txBox="1"/>
          <p:nvPr/>
        </p:nvSpPr>
        <p:spPr>
          <a:xfrm>
            <a:off x="76524" y="719788"/>
            <a:ext cx="363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By Kmeans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A58B0-2F1B-6CA8-9499-6F1582988B85}"/>
              </a:ext>
            </a:extLst>
          </p:cNvPr>
          <p:cNvSpPr txBox="1"/>
          <p:nvPr/>
        </p:nvSpPr>
        <p:spPr>
          <a:xfrm>
            <a:off x="533403" y="1168892"/>
            <a:ext cx="375834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Mean Recency </a:t>
            </a:r>
          </a:p>
          <a:p>
            <a:pPr algn="ctr"/>
            <a:r>
              <a:rPr lang="en-US" sz="800" b="1" dirty="0"/>
              <a:t> How recently customers in each cluster made their last purchase</a:t>
            </a:r>
            <a:endParaRPr lang="en-TH" sz="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640758-59F0-07B2-4631-3FE7CFEC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4" y="1523627"/>
            <a:ext cx="11149663" cy="31785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9A2195-4180-40E5-16A6-58B937EC8BC3}"/>
              </a:ext>
            </a:extLst>
          </p:cNvPr>
          <p:cNvSpPr txBox="1"/>
          <p:nvPr/>
        </p:nvSpPr>
        <p:spPr>
          <a:xfrm>
            <a:off x="4291742" y="1159804"/>
            <a:ext cx="3758340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Mean Frequency</a:t>
            </a:r>
          </a:p>
          <a:p>
            <a:pPr algn="ctr"/>
            <a:r>
              <a:rPr lang="en-US" sz="800" b="1" dirty="0"/>
              <a:t>The average number of purchases made by customers in the cluster</a:t>
            </a:r>
            <a:endParaRPr lang="en-TH" sz="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18EE1-2C9D-6FBF-8FD1-9364B75C82AE}"/>
              </a:ext>
            </a:extLst>
          </p:cNvPr>
          <p:cNvSpPr txBox="1"/>
          <p:nvPr/>
        </p:nvSpPr>
        <p:spPr>
          <a:xfrm>
            <a:off x="8050082" y="1153845"/>
            <a:ext cx="363298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Mean Monetary </a:t>
            </a:r>
          </a:p>
          <a:p>
            <a:pPr algn="ctr"/>
            <a:r>
              <a:rPr lang="en-US" sz="800" b="1" dirty="0"/>
              <a:t>The average total amount of money spent by customers in the cluster</a:t>
            </a:r>
            <a:endParaRPr lang="en-TH" sz="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F98CE-E675-6658-88F5-7E481B51F51D}"/>
              </a:ext>
            </a:extLst>
          </p:cNvPr>
          <p:cNvSpPr txBox="1"/>
          <p:nvPr/>
        </p:nvSpPr>
        <p:spPr>
          <a:xfrm>
            <a:off x="1185621" y="4702221"/>
            <a:ext cx="27277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For Recency, our 'analysis date' was set to </a:t>
            </a:r>
            <a:r>
              <a:rPr lang="en-US" sz="500" b="1" dirty="0"/>
              <a:t>one day after the last transaction in the dataset</a:t>
            </a:r>
            <a:r>
              <a:rPr lang="en-US" sz="500" dirty="0"/>
              <a:t>. This captures how recent customers were </a:t>
            </a:r>
            <a:r>
              <a:rPr lang="en-US" sz="500" i="1" dirty="0"/>
              <a:t>within the data's timeframe</a:t>
            </a:r>
            <a:r>
              <a:rPr lang="en-US" sz="500" dirty="0"/>
              <a:t>, providing meaningful historical insights.</a:t>
            </a:r>
            <a:endParaRPr lang="en-TH" sz="500" dirty="0"/>
          </a:p>
        </p:txBody>
      </p:sp>
      <p:pic>
        <p:nvPicPr>
          <p:cNvPr id="13" name="Picture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CB765E2-AC1D-E1CB-ACD1-A5026788F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275" y="7794256"/>
            <a:ext cx="4938148" cy="1234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86C7F7-AB9A-60B4-571D-AB55DFF4D59D}"/>
              </a:ext>
            </a:extLst>
          </p:cNvPr>
          <p:cNvSpPr txBox="1"/>
          <p:nvPr/>
        </p:nvSpPr>
        <p:spPr>
          <a:xfrm>
            <a:off x="920211" y="4025542"/>
            <a:ext cx="1106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~9 days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AB9A9-281D-E399-84ED-580D15201ED1}"/>
              </a:ext>
            </a:extLst>
          </p:cNvPr>
          <p:cNvSpPr txBox="1"/>
          <p:nvPr/>
        </p:nvSpPr>
        <p:spPr>
          <a:xfrm>
            <a:off x="2026403" y="4052166"/>
            <a:ext cx="1106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~37 days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F5D2C8-4EC1-E001-FD6E-A352CC83A46F}"/>
              </a:ext>
            </a:extLst>
          </p:cNvPr>
          <p:cNvSpPr txBox="1"/>
          <p:nvPr/>
        </p:nvSpPr>
        <p:spPr>
          <a:xfrm>
            <a:off x="3157780" y="4047054"/>
            <a:ext cx="1106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~20 days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390C4-5FEC-D807-0B48-5AA850E87CB9}"/>
              </a:ext>
            </a:extLst>
          </p:cNvPr>
          <p:cNvSpPr txBox="1"/>
          <p:nvPr/>
        </p:nvSpPr>
        <p:spPr>
          <a:xfrm>
            <a:off x="4842253" y="4047054"/>
            <a:ext cx="1106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~1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7040B-F821-1CA8-476E-A9792468497B}"/>
              </a:ext>
            </a:extLst>
          </p:cNvPr>
          <p:cNvSpPr txBox="1"/>
          <p:nvPr/>
        </p:nvSpPr>
        <p:spPr>
          <a:xfrm>
            <a:off x="5948445" y="4047053"/>
            <a:ext cx="1106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E5F22-E262-0A2F-BC7E-6D1FEF17F3ED}"/>
              </a:ext>
            </a:extLst>
          </p:cNvPr>
          <p:cNvSpPr txBox="1"/>
          <p:nvPr/>
        </p:nvSpPr>
        <p:spPr>
          <a:xfrm>
            <a:off x="7131283" y="4047053"/>
            <a:ext cx="553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~2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74F0B2-B601-5C13-B00C-FB33528E5C91}"/>
              </a:ext>
            </a:extLst>
          </p:cNvPr>
          <p:cNvSpPr txBox="1"/>
          <p:nvPr/>
        </p:nvSpPr>
        <p:spPr>
          <a:xfrm>
            <a:off x="8428038" y="4047052"/>
            <a:ext cx="775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~1,500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F456BB-71CB-21C6-89A9-E9753DD6E1B6}"/>
              </a:ext>
            </a:extLst>
          </p:cNvPr>
          <p:cNvSpPr txBox="1"/>
          <p:nvPr/>
        </p:nvSpPr>
        <p:spPr>
          <a:xfrm>
            <a:off x="10165596" y="4494472"/>
            <a:ext cx="168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</a:t>
            </a:r>
            <a:r>
              <a:rPr lang="en-TH" sz="1000" dirty="0"/>
              <a:t>urrency is in Rupee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9E3029-0BD1-D5E4-69D0-A76C9721C57D}"/>
              </a:ext>
            </a:extLst>
          </p:cNvPr>
          <p:cNvSpPr txBox="1"/>
          <p:nvPr/>
        </p:nvSpPr>
        <p:spPr>
          <a:xfrm>
            <a:off x="9559415" y="4009327"/>
            <a:ext cx="775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~2,800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CD3EBE-CCF2-3F8A-203D-EDF576264A03}"/>
              </a:ext>
            </a:extLst>
          </p:cNvPr>
          <p:cNvSpPr txBox="1"/>
          <p:nvPr/>
        </p:nvSpPr>
        <p:spPr>
          <a:xfrm>
            <a:off x="10690791" y="4042326"/>
            <a:ext cx="775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400" dirty="0">
                <a:solidFill>
                  <a:schemeClr val="bg1"/>
                </a:solidFill>
              </a:rPr>
              <a:t>~6,300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EDC4ED-6294-CA7C-0B02-A369618A7073}"/>
              </a:ext>
            </a:extLst>
          </p:cNvPr>
          <p:cNvSpPr txBox="1"/>
          <p:nvPr/>
        </p:nvSpPr>
        <p:spPr>
          <a:xfrm>
            <a:off x="1196216" y="5578719"/>
            <a:ext cx="28379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New &amp; Recent Buyers</a:t>
            </a:r>
            <a:r>
              <a:rPr lang="en-US" sz="1400" dirty="0"/>
              <a:t>: Purchased very recently, only once, and spent low. These are newly acquired users.</a:t>
            </a:r>
            <a:endParaRPr lang="en-TH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07D292-316A-4D71-539D-12F6C2CB4B2D}"/>
              </a:ext>
            </a:extLst>
          </p:cNvPr>
          <p:cNvSpPr txBox="1"/>
          <p:nvPr/>
        </p:nvSpPr>
        <p:spPr>
          <a:xfrm>
            <a:off x="3984002" y="692879"/>
            <a:ext cx="4223995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sz="2000" dirty="0">
                <a:solidFill>
                  <a:schemeClr val="bg1"/>
                </a:solidFill>
              </a:rPr>
              <a:t>There are 3 customer clusters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7AD6B5-988E-A0B6-4138-C445A6D4654A}"/>
              </a:ext>
            </a:extLst>
          </p:cNvPr>
          <p:cNvSpPr txBox="1"/>
          <p:nvPr/>
        </p:nvSpPr>
        <p:spPr>
          <a:xfrm>
            <a:off x="1644684" y="5149707"/>
            <a:ext cx="18414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b="1" dirty="0"/>
              <a:t>Cluster 0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9CAD8E-EA1E-855A-F9DD-01D970C974AC}"/>
              </a:ext>
            </a:extLst>
          </p:cNvPr>
          <p:cNvSpPr txBox="1"/>
          <p:nvPr/>
        </p:nvSpPr>
        <p:spPr>
          <a:xfrm>
            <a:off x="5536855" y="5096442"/>
            <a:ext cx="18414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b="1" dirty="0"/>
              <a:t>Cluster 1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399DAA-BD16-A911-31C5-E194A52C64EA}"/>
              </a:ext>
            </a:extLst>
          </p:cNvPr>
          <p:cNvSpPr txBox="1"/>
          <p:nvPr/>
        </p:nvSpPr>
        <p:spPr>
          <a:xfrm>
            <a:off x="5154435" y="5543973"/>
            <a:ext cx="28379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One-Time Buyers</a:t>
            </a:r>
            <a:r>
              <a:rPr lang="en-US" sz="1400" dirty="0"/>
              <a:t>: Last purchase was long ago, low frequency, and moderate spend. High risk of churn.</a:t>
            </a:r>
            <a:endParaRPr lang="en-TH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590F75-4DF6-5E05-39EF-FDC07D839F5F}"/>
              </a:ext>
            </a:extLst>
          </p:cNvPr>
          <p:cNvSpPr txBox="1"/>
          <p:nvPr/>
        </p:nvSpPr>
        <p:spPr>
          <a:xfrm>
            <a:off x="8628326" y="5540652"/>
            <a:ext cx="28379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Loyal &amp; High-Value Customers</a:t>
            </a:r>
            <a:r>
              <a:rPr lang="en-US" sz="1400" dirty="0"/>
              <a:t>: Fairly recent purchase, most frequent, and highest spend. VIP segment.</a:t>
            </a:r>
            <a:endParaRPr lang="en-TH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7F5AB5-B5EC-BE9B-81EE-D80C9DD41966}"/>
              </a:ext>
            </a:extLst>
          </p:cNvPr>
          <p:cNvSpPr txBox="1"/>
          <p:nvPr/>
        </p:nvSpPr>
        <p:spPr>
          <a:xfrm>
            <a:off x="9046606" y="5056956"/>
            <a:ext cx="1841426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b="1" dirty="0"/>
              <a:t>Cluster 2 </a:t>
            </a:r>
          </a:p>
        </p:txBody>
      </p:sp>
    </p:spTree>
    <p:extLst>
      <p:ext uri="{BB962C8B-B14F-4D97-AF65-F5344CB8AC3E}">
        <p14:creationId xmlns:p14="http://schemas.microsoft.com/office/powerpoint/2010/main" val="1549981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4A0F5F-36B8-1C21-E08F-C28831F2A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4344" y="-89938"/>
            <a:ext cx="11573197" cy="724247"/>
          </a:xfrm>
        </p:spPr>
        <p:txBody>
          <a:bodyPr/>
          <a:lstStyle/>
          <a:p>
            <a:r>
              <a:rPr lang="en-TH" sz="3000" dirty="0"/>
              <a:t>Recency, Frequency &amp; Monetary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FE77BB-2E79-5306-39F6-2CE5E4D6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524" y="548806"/>
            <a:ext cx="5611862" cy="363358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1CD707-0210-DB80-4FD9-14B7478BF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74481"/>
              </p:ext>
            </p:extLst>
          </p:nvPr>
        </p:nvGraphicFramePr>
        <p:xfrm>
          <a:off x="119270" y="4182386"/>
          <a:ext cx="11863346" cy="25603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41840">
                  <a:extLst>
                    <a:ext uri="{9D8B030D-6E8A-4147-A177-3AD203B41FA5}">
                      <a16:colId xmlns:a16="http://schemas.microsoft.com/office/drawing/2014/main" val="618108582"/>
                    </a:ext>
                  </a:extLst>
                </a:gridCol>
                <a:gridCol w="1064165">
                  <a:extLst>
                    <a:ext uri="{9D8B030D-6E8A-4147-A177-3AD203B41FA5}">
                      <a16:colId xmlns:a16="http://schemas.microsoft.com/office/drawing/2014/main" val="1841084016"/>
                    </a:ext>
                  </a:extLst>
                </a:gridCol>
                <a:gridCol w="508195">
                  <a:extLst>
                    <a:ext uri="{9D8B030D-6E8A-4147-A177-3AD203B41FA5}">
                      <a16:colId xmlns:a16="http://schemas.microsoft.com/office/drawing/2014/main" val="2540959435"/>
                    </a:ext>
                  </a:extLst>
                </a:gridCol>
                <a:gridCol w="4007562">
                  <a:extLst>
                    <a:ext uri="{9D8B030D-6E8A-4147-A177-3AD203B41FA5}">
                      <a16:colId xmlns:a16="http://schemas.microsoft.com/office/drawing/2014/main" val="3160738950"/>
                    </a:ext>
                  </a:extLst>
                </a:gridCol>
                <a:gridCol w="3031867">
                  <a:extLst>
                    <a:ext uri="{9D8B030D-6E8A-4147-A177-3AD203B41FA5}">
                      <a16:colId xmlns:a16="http://schemas.microsoft.com/office/drawing/2014/main" val="1319460977"/>
                    </a:ext>
                  </a:extLst>
                </a:gridCol>
                <a:gridCol w="2509717">
                  <a:extLst>
                    <a:ext uri="{9D8B030D-6E8A-4147-A177-3AD203B41FA5}">
                      <a16:colId xmlns:a16="http://schemas.microsoft.com/office/drawing/2014/main" val="2224840010"/>
                    </a:ext>
                  </a:extLst>
                </a:gridCol>
              </a:tblGrid>
              <a:tr h="396552"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Cluster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Type of customers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%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RFM Intepretation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Strategy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Next step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721087"/>
                  </a:ext>
                </a:extLst>
              </a:tr>
              <a:tr h="614492"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New &amp; Recent Buyers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Customers who purchased very recently, are typically one-time buyers, and have a low monetary spend. These are new acquisitions.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New user greeting campaign, first-time incentives, product with high promotion to appeal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 Set up an automated onboarding flow (email/push)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- Launch “2nd purchase” discount</a:t>
                      </a:r>
                      <a:endParaRPr lang="en-TH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787381"/>
                  </a:ext>
                </a:extLst>
              </a:tr>
              <a:tr h="790061"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One-Time Buyers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The largest segment. Customers whose last transaction was a long time ago, are primarily one-time buyers, with moderate initial spend.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 They are at high risk of churn.</a:t>
                      </a:r>
                      <a:endParaRPr lang="en-TH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b="0" dirty="0">
                          <a:solidFill>
                            <a:schemeClr val="tx1"/>
                          </a:solidFill>
                        </a:rPr>
                        <a:t>Reactivate campaign, Limited-time offer, Win back (eg.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TH" sz="1200" b="0" dirty="0">
                          <a:solidFill>
                            <a:schemeClr val="tx1"/>
                          </a:solidFill>
                        </a:rPr>
                        <a:t>undle products), Net Promoter Score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 Send NPS to understand drop-off</a:t>
                      </a:r>
                      <a:br>
                        <a:rPr lang="en-US" sz="1200" dirty="0"/>
                      </a:br>
                      <a:r>
                        <a:rPr lang="en-US" sz="1200" dirty="0"/>
                        <a:t>- Offer time-sensitive promo to reactivate</a:t>
                      </a:r>
                      <a:endParaRPr lang="en-TH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878581"/>
                  </a:ext>
                </a:extLst>
              </a:tr>
              <a:tr h="614492"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Loyal &amp; High-Value Buyers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Our most valuable customers. They are relatively recent, have the highest purchase frequency, and the highest monetary spending.</a:t>
                      </a:r>
                      <a:endParaRPr lang="en-TH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VIP Programs, referral incentive, surprise &amp; reward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H" sz="1200" dirty="0"/>
                        <a:t>- Enroll in VIP or loyalty tier</a:t>
                      </a:r>
                    </a:p>
                    <a:p>
                      <a:pPr algn="ctr"/>
                      <a:r>
                        <a:rPr lang="en-TH" sz="1200" dirty="0"/>
                        <a:t>-Send exclusive early access campaign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08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612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82AC57-4974-FD7D-B7C3-A72909A673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000" dirty="0"/>
              <a:t>Customer Segments: RFM Scatter Plots</a:t>
            </a:r>
            <a:endParaRPr lang="en-TH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A91A03-00AA-776B-2D71-CDDE2259A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49" y="1217651"/>
            <a:ext cx="9204702" cy="4268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453C03-7BCC-B196-4A5F-4003CCD9223B}"/>
              </a:ext>
            </a:extLst>
          </p:cNvPr>
          <p:cNvSpPr txBox="1"/>
          <p:nvPr/>
        </p:nvSpPr>
        <p:spPr>
          <a:xfrm>
            <a:off x="1170122" y="1048374"/>
            <a:ext cx="485613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sz="1600" dirty="0"/>
              <a:t>Recency vs. Frequency by clusters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B8958-5D64-CF25-460F-67B8C9118B9D}"/>
              </a:ext>
            </a:extLst>
          </p:cNvPr>
          <p:cNvSpPr txBox="1"/>
          <p:nvPr/>
        </p:nvSpPr>
        <p:spPr>
          <a:xfrm>
            <a:off x="6055883" y="1033486"/>
            <a:ext cx="4856136" cy="33855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TH" sz="1600" dirty="0"/>
              <a:t>Frequency vs. Monetary by clusters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635A2-7F8C-2A48-5D33-FCC1FBB17F36}"/>
              </a:ext>
            </a:extLst>
          </p:cNvPr>
          <p:cNvSpPr txBox="1"/>
          <p:nvPr/>
        </p:nvSpPr>
        <p:spPr>
          <a:xfrm>
            <a:off x="1155996" y="1033486"/>
            <a:ext cx="4870262" cy="4531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48FD26-65A4-BCC4-926C-1794E9550C82}"/>
              </a:ext>
            </a:extLst>
          </p:cNvPr>
          <p:cNvSpPr txBox="1"/>
          <p:nvPr/>
        </p:nvSpPr>
        <p:spPr>
          <a:xfrm>
            <a:off x="6040384" y="1033486"/>
            <a:ext cx="4870262" cy="4531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FAA30-CAA5-F89A-96A9-CFDD708B3A95}"/>
              </a:ext>
            </a:extLst>
          </p:cNvPr>
          <p:cNvSpPr txBox="1"/>
          <p:nvPr/>
        </p:nvSpPr>
        <p:spPr>
          <a:xfrm>
            <a:off x="0" y="5670125"/>
            <a:ext cx="634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 </a:t>
            </a:r>
            <a:r>
              <a:rPr lang="en-US" sz="1200" b="1" dirty="0"/>
              <a:t>majority of our customers are </a:t>
            </a:r>
            <a:r>
              <a:rPr lang="en-US" sz="1200" b="1" u="sng" dirty="0">
                <a:solidFill>
                  <a:srgbClr val="0070C0"/>
                </a:solidFill>
              </a:rPr>
              <a:t>One-time buyers</a:t>
            </a:r>
            <a:r>
              <a:rPr lang="en-US" sz="1200" b="1" dirty="0">
                <a:solidFill>
                  <a:srgbClr val="0070C0"/>
                </a:solidFill>
              </a:rPr>
              <a:t>(Cluster 1)</a:t>
            </a:r>
            <a:r>
              <a:rPr lang="en-US" sz="1200" b="1" dirty="0"/>
              <a:t> (Frequency = 1)</a:t>
            </a:r>
            <a:r>
              <a:rPr lang="en-US" sz="1200" dirty="0"/>
              <a:t>, </a:t>
            </a:r>
          </a:p>
          <a:p>
            <a:pPr algn="ctr"/>
            <a:r>
              <a:rPr lang="en-US" sz="1200" dirty="0">
                <a:sym typeface="Wingdings" pitchFamily="2" charset="2"/>
              </a:rPr>
              <a:t>Re-engagement campaign, incentivized offer (to motivate 2</a:t>
            </a:r>
            <a:r>
              <a:rPr lang="en-US" sz="1200" baseline="30000" dirty="0">
                <a:sym typeface="Wingdings" pitchFamily="2" charset="2"/>
              </a:rPr>
              <a:t>nd</a:t>
            </a:r>
            <a:r>
              <a:rPr lang="en-US" sz="1200" dirty="0">
                <a:sym typeface="Wingdings" pitchFamily="2" charset="2"/>
              </a:rPr>
              <a:t> purchase)</a:t>
            </a:r>
          </a:p>
          <a:p>
            <a:pPr algn="ctr"/>
            <a:endParaRPr lang="en-US" sz="1200" dirty="0">
              <a:solidFill>
                <a:schemeClr val="accent1"/>
              </a:solidFill>
            </a:endParaRPr>
          </a:p>
          <a:p>
            <a:pPr algn="ctr"/>
            <a:r>
              <a:rPr lang="en-US" sz="1200" b="1" u="sng" dirty="0">
                <a:solidFill>
                  <a:srgbClr val="0070C0"/>
                </a:solidFill>
              </a:rPr>
              <a:t>Our loyal customers</a:t>
            </a:r>
            <a:r>
              <a:rPr lang="en-US" sz="1200" b="1" dirty="0">
                <a:solidFill>
                  <a:srgbClr val="0070C0"/>
                </a:solidFill>
              </a:rPr>
              <a:t> (Cluster 2) </a:t>
            </a:r>
            <a:r>
              <a:rPr lang="en-US" sz="1200" dirty="0"/>
              <a:t>spend </a:t>
            </a:r>
            <a:r>
              <a:rPr lang="en-US" sz="1200" b="1" dirty="0"/>
              <a:t>more</a:t>
            </a:r>
            <a:r>
              <a:rPr lang="en-US" sz="1200" dirty="0"/>
              <a:t> (high monetary) tend to be </a:t>
            </a:r>
            <a:r>
              <a:rPr lang="en-US" sz="1200" b="1" dirty="0"/>
              <a:t>frequent buyers</a:t>
            </a:r>
            <a:r>
              <a:rPr lang="en-US" sz="1200" dirty="0"/>
              <a:t> (High spend &amp; frequency)</a:t>
            </a:r>
          </a:p>
          <a:p>
            <a:pPr algn="ctr"/>
            <a:r>
              <a:rPr lang="en-US" sz="1200" b="1" dirty="0">
                <a:sym typeface="Wingdings" pitchFamily="2" charset="2"/>
              </a:rPr>
              <a:t></a:t>
            </a:r>
            <a:r>
              <a:rPr lang="en-US" sz="1200" b="1" dirty="0"/>
              <a:t> Retain &amp; upsell</a:t>
            </a:r>
            <a:endParaRPr lang="en-TH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C512EC-4DD8-1FFA-E271-56656C5CC9B3}"/>
              </a:ext>
            </a:extLst>
          </p:cNvPr>
          <p:cNvSpPr txBox="1"/>
          <p:nvPr/>
        </p:nvSpPr>
        <p:spPr>
          <a:xfrm>
            <a:off x="5925517" y="5978402"/>
            <a:ext cx="5491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solidFill>
                  <a:srgbClr val="0070C0"/>
                </a:solidFill>
              </a:rPr>
              <a:t>Recent new</a:t>
            </a:r>
            <a:r>
              <a:rPr lang="en-US" sz="1200" b="1" dirty="0">
                <a:solidFill>
                  <a:srgbClr val="0070C0"/>
                </a:solidFill>
              </a:rPr>
              <a:t> (Cluster 0): </a:t>
            </a:r>
            <a:r>
              <a:rPr lang="en-US" sz="1200" dirty="0"/>
              <a:t>spend significantly less, lower frequency</a:t>
            </a:r>
          </a:p>
          <a:p>
            <a:pPr algn="ctr"/>
            <a:r>
              <a:rPr lang="en-US" sz="1200" dirty="0">
                <a:solidFill>
                  <a:schemeClr val="accent1"/>
                </a:solidFill>
                <a:sym typeface="Wingdings" pitchFamily="2" charset="2"/>
              </a:rPr>
              <a:t>Welcome offer</a:t>
            </a:r>
            <a:endParaRPr lang="en-US" sz="1200" dirty="0">
              <a:solidFill>
                <a:schemeClr val="accent1"/>
              </a:solidFill>
            </a:endParaRPr>
          </a:p>
          <a:p>
            <a:pPr algn="ctr"/>
            <a:endParaRPr lang="en-TH" sz="1200" dirty="0"/>
          </a:p>
        </p:txBody>
      </p:sp>
    </p:spTree>
    <p:extLst>
      <p:ext uri="{BB962C8B-B14F-4D97-AF65-F5344CB8AC3E}">
        <p14:creationId xmlns:p14="http://schemas.microsoft.com/office/powerpoint/2010/main" val="1870943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67777" y="0"/>
            <a:ext cx="11573197" cy="724247"/>
          </a:xfrm>
        </p:spPr>
        <p:txBody>
          <a:bodyPr/>
          <a:lstStyle/>
          <a:p>
            <a:r>
              <a:rPr lang="en-US" sz="3000" dirty="0"/>
              <a:t>Relative importance of attributes by cluster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9B572-CA04-4BBD-ACA1-4836704E27C0}"/>
              </a:ext>
            </a:extLst>
          </p:cNvPr>
          <p:cNvSpPr txBox="1"/>
          <p:nvPr/>
        </p:nvSpPr>
        <p:spPr>
          <a:xfrm>
            <a:off x="5509591" y="2587789"/>
            <a:ext cx="5890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779FF9-2033-4EE9-B98C-9EB8F0F1C025}"/>
              </a:ext>
            </a:extLst>
          </p:cNvPr>
          <p:cNvSpPr txBox="1"/>
          <p:nvPr/>
        </p:nvSpPr>
        <p:spPr>
          <a:xfrm>
            <a:off x="267777" y="4023005"/>
            <a:ext cx="3178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cs typeface="Arial" pitchFamily="34" charset="0"/>
              </a:rPr>
              <a:t>Cluster 0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has </a:t>
            </a:r>
            <a:r>
              <a:rPr lang="en-US" sz="1200" b="1" dirty="0"/>
              <a:t>strong negative Recency</a:t>
            </a:r>
          </a:p>
          <a:p>
            <a:pPr algn="ctr"/>
            <a:r>
              <a:rPr lang="en-US" sz="1200" b="1" dirty="0"/>
              <a:t> (-1.35)</a:t>
            </a:r>
            <a:r>
              <a:rPr lang="en-US" sz="1200" dirty="0"/>
              <a:t>, meaning customers in this group purchased very recently. However, both </a:t>
            </a:r>
            <a:r>
              <a:rPr lang="en-US" sz="1200" b="1" dirty="0"/>
              <a:t>Frequency (-0.18)</a:t>
            </a:r>
            <a:r>
              <a:rPr lang="en-US" sz="1200" dirty="0"/>
              <a:t> and </a:t>
            </a:r>
            <a:r>
              <a:rPr lang="en-US" sz="1200" b="1" dirty="0"/>
              <a:t>Monetary (-0.25)</a:t>
            </a:r>
            <a:r>
              <a:rPr lang="en-US" sz="1200" dirty="0"/>
              <a:t> are low.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B9C72A-26D5-AAB0-4FD4-4D43ACDD3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74" y="596860"/>
            <a:ext cx="5157851" cy="33963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6E9786-8233-9A34-DE62-71D3DB79A86B}"/>
              </a:ext>
            </a:extLst>
          </p:cNvPr>
          <p:cNvSpPr txBox="1"/>
          <p:nvPr/>
        </p:nvSpPr>
        <p:spPr>
          <a:xfrm>
            <a:off x="466559" y="5196930"/>
            <a:ext cx="2781359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These are likely </a:t>
            </a:r>
            <a:r>
              <a:rPr lang="en-US" sz="1200" b="1" dirty="0"/>
              <a:t>new customers</a:t>
            </a:r>
            <a:r>
              <a:rPr lang="en-US" sz="1200" dirty="0"/>
              <a:t> who made </a:t>
            </a:r>
            <a:r>
              <a:rPr lang="en-US" sz="1200" b="1" dirty="0">
                <a:solidFill>
                  <a:srgbClr val="FF0000"/>
                </a:solidFill>
              </a:rPr>
              <a:t>only one or a small purchase</a:t>
            </a:r>
            <a:endParaRPr lang="en-TH" sz="1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AE7FC-412C-6A16-CD65-6E214B750982}"/>
              </a:ext>
            </a:extLst>
          </p:cNvPr>
          <p:cNvSpPr txBox="1"/>
          <p:nvPr/>
        </p:nvSpPr>
        <p:spPr>
          <a:xfrm>
            <a:off x="3711431" y="4027925"/>
            <a:ext cx="39312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cs typeface="Arial" pitchFamily="34" charset="0"/>
              </a:rPr>
              <a:t>Cluster 1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has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moderate Recency</a:t>
            </a:r>
            <a:endParaRPr lang="en-US" sz="1200" b="1" dirty="0"/>
          </a:p>
          <a:p>
            <a:pPr algn="ctr"/>
            <a:r>
              <a:rPr lang="en-US" sz="1200" b="1" dirty="0"/>
              <a:t> (+0.49)</a:t>
            </a:r>
            <a:r>
              <a:rPr lang="en-US" sz="1200" dirty="0"/>
              <a:t>, meaning last purchase was longer ago. However, both </a:t>
            </a:r>
            <a:r>
              <a:rPr lang="en-US" sz="1200" b="1" dirty="0"/>
              <a:t>Frequency (-0.18)</a:t>
            </a:r>
            <a:r>
              <a:rPr lang="en-US" sz="1200" dirty="0"/>
              <a:t> and </a:t>
            </a:r>
            <a:r>
              <a:rPr lang="en-US" sz="1200" b="1" dirty="0"/>
              <a:t>Monetary (+0.06)</a:t>
            </a:r>
            <a:r>
              <a:rPr lang="en-US" sz="1200" dirty="0"/>
              <a:t> are </a:t>
            </a:r>
            <a:r>
              <a:rPr lang="en-US" sz="1200" dirty="0">
                <a:solidFill>
                  <a:srgbClr val="FF0000"/>
                </a:solidFill>
              </a:rPr>
              <a:t>low, </a:t>
            </a:r>
            <a:r>
              <a:rPr lang="en-US" sz="1200" dirty="0"/>
              <a:t>which most of them are </a:t>
            </a:r>
            <a:r>
              <a:rPr lang="en-US" sz="1200" b="1" dirty="0"/>
              <a:t>one-time buyers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3BA7E189-88FE-4DE0-A08C-0E4479A982FA}"/>
              </a:ext>
            </a:extLst>
          </p:cNvPr>
          <p:cNvSpPr/>
          <p:nvPr/>
        </p:nvSpPr>
        <p:spPr>
          <a:xfrm>
            <a:off x="0" y="5878490"/>
            <a:ext cx="1057524" cy="747423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TH" sz="1200" dirty="0"/>
              <a:t>Action: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5CD99-8909-847F-12E8-5A434F3263C4}"/>
              </a:ext>
            </a:extLst>
          </p:cNvPr>
          <p:cNvSpPr txBox="1"/>
          <p:nvPr/>
        </p:nvSpPr>
        <p:spPr>
          <a:xfrm>
            <a:off x="8321038" y="3838339"/>
            <a:ext cx="3178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cs typeface="Arial" pitchFamily="34" charset="0"/>
              </a:rPr>
              <a:t>Cluster 2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has </a:t>
            </a:r>
            <a:r>
              <a:rPr lang="en-US" sz="1200" b="1" dirty="0"/>
              <a:t>slightly negative Recency</a:t>
            </a:r>
          </a:p>
          <a:p>
            <a:pPr algn="ctr"/>
            <a:r>
              <a:rPr lang="en-US" sz="1200" b="1" dirty="0"/>
              <a:t> (-0.53)</a:t>
            </a:r>
            <a:r>
              <a:rPr lang="en-US" sz="1200" dirty="0"/>
              <a:t>, meaning customers in this group purchased recently. However, </a:t>
            </a:r>
            <a:r>
              <a:rPr lang="en-US" sz="1200" b="1" dirty="0"/>
              <a:t>High</a:t>
            </a:r>
            <a:r>
              <a:rPr lang="en-US" sz="1200" dirty="0"/>
              <a:t> </a:t>
            </a:r>
            <a:r>
              <a:rPr lang="en-US" sz="1200" b="1" dirty="0"/>
              <a:t>Frequency (5.18)</a:t>
            </a:r>
            <a:r>
              <a:rPr lang="en-US" sz="1200" dirty="0"/>
              <a:t> and </a:t>
            </a:r>
            <a:r>
              <a:rPr lang="en-US" sz="1200" b="1" dirty="0"/>
              <a:t>Moderate</a:t>
            </a:r>
            <a:r>
              <a:rPr lang="en-US" sz="1200" dirty="0"/>
              <a:t> </a:t>
            </a:r>
            <a:r>
              <a:rPr lang="en-US" sz="1200" b="1" dirty="0"/>
              <a:t>Monetary (+0.58) </a:t>
            </a:r>
            <a:r>
              <a:rPr lang="en-US" sz="1200" dirty="0"/>
              <a:t>meaning </a:t>
            </a:r>
          </a:p>
          <a:p>
            <a:pPr algn="ct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“They buy often &amp; spend well”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53A11F-1BA4-9FBE-2DE8-CBC68C27C17F}"/>
              </a:ext>
            </a:extLst>
          </p:cNvPr>
          <p:cNvSpPr txBox="1"/>
          <p:nvPr/>
        </p:nvSpPr>
        <p:spPr>
          <a:xfrm>
            <a:off x="4468155" y="5117799"/>
            <a:ext cx="2781359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These are likely </a:t>
            </a:r>
            <a:r>
              <a:rPr lang="en-US" sz="1200" b="1" dirty="0">
                <a:solidFill>
                  <a:srgbClr val="FF0000"/>
                </a:solidFill>
              </a:rPr>
              <a:t>at risk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who bought product but tend to not return</a:t>
            </a:r>
            <a:endParaRPr lang="en-TH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9BACCE-2F36-B199-9B08-54CED8195731}"/>
              </a:ext>
            </a:extLst>
          </p:cNvPr>
          <p:cNvSpPr txBox="1"/>
          <p:nvPr/>
        </p:nvSpPr>
        <p:spPr>
          <a:xfrm>
            <a:off x="8792308" y="5117799"/>
            <a:ext cx="2455798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They are </a:t>
            </a:r>
            <a:r>
              <a:rPr lang="en-US" sz="1200" b="1" dirty="0">
                <a:solidFill>
                  <a:srgbClr val="92D050"/>
                </a:solidFill>
              </a:rPr>
              <a:t>loyal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92D050"/>
                </a:solidFill>
              </a:rPr>
              <a:t>engaged buyers</a:t>
            </a:r>
            <a:endParaRPr lang="en-TH" sz="1400" b="1" dirty="0">
              <a:solidFill>
                <a:srgbClr val="92D05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1DFED7-C56F-0CE6-990E-D168116A2FF6}"/>
              </a:ext>
            </a:extLst>
          </p:cNvPr>
          <p:cNvSpPr txBox="1"/>
          <p:nvPr/>
        </p:nvSpPr>
        <p:spPr>
          <a:xfrm>
            <a:off x="4786116" y="5734326"/>
            <a:ext cx="2145439" cy="949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TH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97DFCD-FC30-A7EE-1FC7-5AF501D1F593}"/>
              </a:ext>
            </a:extLst>
          </p:cNvPr>
          <p:cNvSpPr txBox="1"/>
          <p:nvPr/>
        </p:nvSpPr>
        <p:spPr>
          <a:xfrm>
            <a:off x="8294686" y="5667425"/>
            <a:ext cx="36298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H" sz="1400" b="1" i="1" dirty="0"/>
              <a:t>Loyal rewards, </a:t>
            </a:r>
            <a:r>
              <a:rPr lang="en-TH" sz="1400" i="1" dirty="0"/>
              <a:t>add on </a:t>
            </a:r>
            <a:r>
              <a:rPr lang="en-TH" sz="1400" b="1" i="1" dirty="0"/>
              <a:t>benefits </a:t>
            </a:r>
            <a:r>
              <a:rPr lang="en-TH" sz="1400" i="1" dirty="0"/>
              <a:t>eg. </a:t>
            </a:r>
            <a:r>
              <a:rPr lang="en-US" sz="1400" i="1" dirty="0"/>
              <a:t>Early access to new products, tier benefit</a:t>
            </a:r>
          </a:p>
          <a:p>
            <a:pPr algn="ctr"/>
            <a:r>
              <a:rPr lang="en-US" sz="1400" dirty="0"/>
              <a:t># This customer is the </a:t>
            </a:r>
            <a:r>
              <a:rPr lang="en-US" sz="1400" b="1" dirty="0"/>
              <a:t>goal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/>
              <a:t>--&gt; </a:t>
            </a:r>
            <a:r>
              <a:rPr lang="en-US" sz="1400" b="1" dirty="0"/>
              <a:t>retain them </a:t>
            </a:r>
            <a:r>
              <a:rPr lang="en-US" sz="1400" dirty="0"/>
              <a:t>and </a:t>
            </a:r>
            <a:r>
              <a:rPr lang="en-US" sz="1400" dirty="0">
                <a:highlight>
                  <a:srgbClr val="C0C0C0"/>
                </a:highlight>
              </a:rPr>
              <a:t>move other clusters to this cluster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7E6702-9A24-BC10-5683-D580CD8138CC}"/>
              </a:ext>
            </a:extLst>
          </p:cNvPr>
          <p:cNvSpPr txBox="1"/>
          <p:nvPr/>
        </p:nvSpPr>
        <p:spPr>
          <a:xfrm>
            <a:off x="1033805" y="5975197"/>
            <a:ext cx="238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</a:t>
            </a:r>
            <a:r>
              <a:rPr lang="en-TH" sz="1400" b="1" dirty="0"/>
              <a:t>elcome offers</a:t>
            </a:r>
            <a:r>
              <a:rPr lang="en-TH" sz="1400" dirty="0"/>
              <a:t>, reminders to make a 2nd purchase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95135B-7BEC-48D5-E240-4520BF803866}"/>
              </a:ext>
            </a:extLst>
          </p:cNvPr>
          <p:cNvSpPr txBox="1"/>
          <p:nvPr/>
        </p:nvSpPr>
        <p:spPr>
          <a:xfrm>
            <a:off x="3650031" y="5766316"/>
            <a:ext cx="4417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Win-back campaign, </a:t>
            </a:r>
            <a:r>
              <a:rPr lang="en-US" sz="1400" b="1" i="1" dirty="0"/>
              <a:t>exclusive discount</a:t>
            </a:r>
            <a:r>
              <a:rPr lang="en-US" sz="1400" i="1" dirty="0"/>
              <a:t>, survey to see why they didn’t return (NPS)</a:t>
            </a:r>
          </a:p>
          <a:p>
            <a:pPr algn="ctr"/>
            <a:r>
              <a:rPr lang="en-US" sz="1400" dirty="0"/>
              <a:t># This is </a:t>
            </a:r>
            <a:r>
              <a:rPr lang="en-US" sz="1400" b="1" dirty="0"/>
              <a:t>majority of our customer</a:t>
            </a:r>
            <a:r>
              <a:rPr lang="en-US" sz="1400" dirty="0"/>
              <a:t>, we need to focus to move them to </a:t>
            </a:r>
            <a:r>
              <a:rPr lang="en-US" sz="1400" dirty="0">
                <a:highlight>
                  <a:srgbClr val="FFFF00"/>
                </a:highlight>
              </a:rPr>
              <a:t>Cluster 2</a:t>
            </a:r>
            <a:endParaRPr lang="en-TH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65884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55BC9-F943-8351-6A37-CD09E605DC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TH" dirty="0"/>
              <a:t>Key Takeaways &amp; Next steps</a:t>
            </a:r>
          </a:p>
        </p:txBody>
      </p: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D84944B2-0727-759F-9E1C-DE6FEB682792}"/>
              </a:ext>
            </a:extLst>
          </p:cNvPr>
          <p:cNvSpPr/>
          <p:nvPr/>
        </p:nvSpPr>
        <p:spPr>
          <a:xfrm>
            <a:off x="1147847" y="1279556"/>
            <a:ext cx="4568988" cy="75786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Key Takeaways </a:t>
            </a:r>
          </a:p>
        </p:txBody>
      </p:sp>
      <p:sp>
        <p:nvSpPr>
          <p:cNvPr id="4" name="Rectangle: Rounded Corners 21">
            <a:extLst>
              <a:ext uri="{FF2B5EF4-FFF2-40B4-BE49-F238E27FC236}">
                <a16:creationId xmlns:a16="http://schemas.microsoft.com/office/drawing/2014/main" id="{D9BF98F3-EF45-8FD3-CF97-DE5ECA17657E}"/>
              </a:ext>
            </a:extLst>
          </p:cNvPr>
          <p:cNvSpPr/>
          <p:nvPr/>
        </p:nvSpPr>
        <p:spPr>
          <a:xfrm>
            <a:off x="6880518" y="1279556"/>
            <a:ext cx="4568988" cy="75786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5" name="Rectangle: Rounded Corners 35">
            <a:extLst>
              <a:ext uri="{FF2B5EF4-FFF2-40B4-BE49-F238E27FC236}">
                <a16:creationId xmlns:a16="http://schemas.microsoft.com/office/drawing/2014/main" id="{6A5E2441-63A4-6CA8-1AC3-667AE89E2633}"/>
              </a:ext>
            </a:extLst>
          </p:cNvPr>
          <p:cNvSpPr/>
          <p:nvPr/>
        </p:nvSpPr>
        <p:spPr>
          <a:xfrm>
            <a:off x="1049260" y="2164476"/>
            <a:ext cx="4683321" cy="1115524"/>
          </a:xfrm>
          <a:prstGeom prst="roundRect">
            <a:avLst>
              <a:gd name="adj" fmla="val 1201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b="1" dirty="0">
                <a:solidFill>
                  <a:schemeClr val="tx1"/>
                </a:solidFill>
              </a:rPr>
              <a:t>Low retention rate after first purchase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Over 90% of revenue &amp; users come from Week00 (acquisition week).</a:t>
            </a:r>
          </a:p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</a:rPr>
              <a:t>Only ~3.37% of customers return after first purchase.</a:t>
            </a:r>
          </a:p>
        </p:txBody>
      </p:sp>
      <p:sp>
        <p:nvSpPr>
          <p:cNvPr id="6" name="Rectangle: Rounded Corners 36">
            <a:extLst>
              <a:ext uri="{FF2B5EF4-FFF2-40B4-BE49-F238E27FC236}">
                <a16:creationId xmlns:a16="http://schemas.microsoft.com/office/drawing/2014/main" id="{B60CF8F7-0723-B9E3-2D3E-EAF0D96B2C66}"/>
              </a:ext>
            </a:extLst>
          </p:cNvPr>
          <p:cNvSpPr/>
          <p:nvPr/>
        </p:nvSpPr>
        <p:spPr>
          <a:xfrm>
            <a:off x="1080751" y="3429000"/>
            <a:ext cx="4676526" cy="108863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Flat discounts fail to drive loyalty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</a:rPr>
              <a:t>No positive correlation </a:t>
            </a:r>
            <a:r>
              <a:rPr lang="en-US" sz="1400" dirty="0">
                <a:solidFill>
                  <a:schemeClr val="tx1"/>
                </a:solidFill>
              </a:rPr>
              <a:t>between </a:t>
            </a:r>
            <a:r>
              <a:rPr lang="en-US" sz="1400" b="1" dirty="0">
                <a:solidFill>
                  <a:schemeClr val="tx1"/>
                </a:solidFill>
              </a:rPr>
              <a:t>discount % and AOV. </a:t>
            </a:r>
            <a:r>
              <a:rPr lang="en-US" sz="1400" dirty="0">
                <a:solidFill>
                  <a:schemeClr val="tx1"/>
                </a:solidFill>
              </a:rPr>
              <a:t>Cluster 0 (25%) gets most discounts but rarely returns.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22">
            <a:extLst>
              <a:ext uri="{FF2B5EF4-FFF2-40B4-BE49-F238E27FC236}">
                <a16:creationId xmlns:a16="http://schemas.microsoft.com/office/drawing/2014/main" id="{49F3F761-5DEE-B7F3-8751-4845C1521CDB}"/>
              </a:ext>
            </a:extLst>
          </p:cNvPr>
          <p:cNvSpPr/>
          <p:nvPr/>
        </p:nvSpPr>
        <p:spPr>
          <a:xfrm>
            <a:off x="1033515" y="4602883"/>
            <a:ext cx="4683320" cy="93886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b="1" dirty="0">
                <a:solidFill>
                  <a:schemeClr val="tx1"/>
                </a:solidFill>
              </a:rPr>
              <a:t>High spenders </a:t>
            </a:r>
            <a:r>
              <a:rPr lang="en-US" sz="1400" dirty="0">
                <a:solidFill>
                  <a:schemeClr val="tx1"/>
                </a:solidFill>
              </a:rPr>
              <a:t>are </a:t>
            </a:r>
            <a:r>
              <a:rPr lang="en-US" sz="1400" b="1" dirty="0">
                <a:solidFill>
                  <a:schemeClr val="accent3"/>
                </a:solidFill>
              </a:rPr>
              <a:t>loyal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— </a:t>
            </a:r>
            <a:r>
              <a:rPr lang="en-US" sz="1400" dirty="0">
                <a:solidFill>
                  <a:srgbClr val="FF0000"/>
                </a:solidFill>
              </a:rPr>
              <a:t>but few                          </a:t>
            </a:r>
            <a:r>
              <a:rPr lang="en-US" sz="1400" dirty="0">
                <a:solidFill>
                  <a:schemeClr val="tx1"/>
                </a:solidFill>
              </a:rPr>
              <a:t>Cluster 2 (just 3%) buys more often and contributes </a:t>
            </a:r>
            <a:r>
              <a:rPr lang="en-US" sz="1400" b="1" dirty="0">
                <a:solidFill>
                  <a:schemeClr val="tx1"/>
                </a:solidFill>
              </a:rPr>
              <a:t>significant revenue</a:t>
            </a:r>
            <a:r>
              <a:rPr lang="en-US" sz="1400" dirty="0">
                <a:solidFill>
                  <a:schemeClr val="tx1"/>
                </a:solidFill>
              </a:rPr>
              <a:t> despite being a small segment</a:t>
            </a:r>
            <a:r>
              <a:rPr lang="en-US" sz="14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Isosceles Triangle 15">
            <a:extLst>
              <a:ext uri="{FF2B5EF4-FFF2-40B4-BE49-F238E27FC236}">
                <a16:creationId xmlns:a16="http://schemas.microsoft.com/office/drawing/2014/main" id="{1D1436B6-9F81-0BC3-69C9-95331CDA2B8C}"/>
              </a:ext>
            </a:extLst>
          </p:cNvPr>
          <p:cNvSpPr/>
          <p:nvPr/>
        </p:nvSpPr>
        <p:spPr>
          <a:xfrm rot="5400000">
            <a:off x="4227784" y="4234993"/>
            <a:ext cx="4277386" cy="384780"/>
          </a:xfrm>
          <a:prstGeom prst="triangle">
            <a:avLst>
              <a:gd name="adj" fmla="val 5149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9" name="Rectangle: Rounded Corners 37">
            <a:extLst>
              <a:ext uri="{FF2B5EF4-FFF2-40B4-BE49-F238E27FC236}">
                <a16:creationId xmlns:a16="http://schemas.microsoft.com/office/drawing/2014/main" id="{658D048F-46A7-BD27-92E9-4DD411ECBEE7}"/>
              </a:ext>
            </a:extLst>
          </p:cNvPr>
          <p:cNvSpPr/>
          <p:nvPr/>
        </p:nvSpPr>
        <p:spPr>
          <a:xfrm>
            <a:off x="6999641" y="4602883"/>
            <a:ext cx="4489572" cy="938862"/>
          </a:xfrm>
          <a:prstGeom prst="roundRect">
            <a:avLst>
              <a:gd name="adj" fmla="val 9461"/>
            </a:avLst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US" sz="1400" b="1" dirty="0"/>
              <a:t>Retain loyal buyers</a:t>
            </a:r>
            <a:r>
              <a:rPr lang="en-US" sz="1400" dirty="0"/>
              <a:t> (Cluster2) with </a:t>
            </a:r>
            <a:r>
              <a:rPr lang="en-US" sz="1400" b="1" dirty="0">
                <a:solidFill>
                  <a:schemeClr val="accent3"/>
                </a:solidFill>
              </a:rPr>
              <a:t>loyalty packages </a:t>
            </a:r>
            <a:r>
              <a:rPr lang="en-US" sz="1400" dirty="0"/>
              <a:t>(early access, bundle deals, tier benefits) to maximize lifetime value. This help </a:t>
            </a:r>
            <a:r>
              <a:rPr lang="en-US" sz="1400" b="1" dirty="0"/>
              <a:t>generate revenue </a:t>
            </a:r>
            <a:r>
              <a:rPr lang="en-US" sz="1400" dirty="0"/>
              <a:t>sustainably.</a:t>
            </a:r>
          </a:p>
        </p:txBody>
      </p:sp>
      <p:sp>
        <p:nvSpPr>
          <p:cNvPr id="12" name="Rectangle: Rounded Corners 35">
            <a:extLst>
              <a:ext uri="{FF2B5EF4-FFF2-40B4-BE49-F238E27FC236}">
                <a16:creationId xmlns:a16="http://schemas.microsoft.com/office/drawing/2014/main" id="{2BB4A95B-7789-90F0-F2BE-2CDE27FB0633}"/>
              </a:ext>
            </a:extLst>
          </p:cNvPr>
          <p:cNvSpPr/>
          <p:nvPr/>
        </p:nvSpPr>
        <p:spPr>
          <a:xfrm>
            <a:off x="6959934" y="2164477"/>
            <a:ext cx="4568987" cy="1110582"/>
          </a:xfrm>
          <a:prstGeom prst="roundRect">
            <a:avLst>
              <a:gd name="adj" fmla="val 12011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>
              <a:spcBef>
                <a:spcPts val="600"/>
              </a:spcBef>
            </a:pPr>
            <a:r>
              <a:rPr lang="en-US" sz="1400" b="1" dirty="0">
                <a:solidFill>
                  <a:schemeClr val="tx1"/>
                </a:solidFill>
              </a:rPr>
              <a:t>Set up re-engagement triggers</a:t>
            </a:r>
            <a:r>
              <a:rPr lang="en-US" sz="1400" dirty="0">
                <a:solidFill>
                  <a:schemeClr val="tx1"/>
                </a:solidFill>
              </a:rPr>
              <a:t> within 3–5 days post-purchase for </a:t>
            </a:r>
            <a:r>
              <a:rPr lang="en-US" sz="1400" b="1" dirty="0">
                <a:solidFill>
                  <a:schemeClr val="accent3"/>
                </a:solidFill>
              </a:rPr>
              <a:t>new &amp; recent buyers (Cluster 0) </a:t>
            </a:r>
            <a:r>
              <a:rPr lang="en-US" sz="1400" dirty="0">
                <a:solidFill>
                  <a:schemeClr val="tx1"/>
                </a:solidFill>
              </a:rPr>
              <a:t>using welcome offers or NPS surveys.</a:t>
            </a:r>
          </a:p>
        </p:txBody>
      </p:sp>
      <p:sp>
        <p:nvSpPr>
          <p:cNvPr id="13" name="Rectangle: Rounded Corners 36">
            <a:extLst>
              <a:ext uri="{FF2B5EF4-FFF2-40B4-BE49-F238E27FC236}">
                <a16:creationId xmlns:a16="http://schemas.microsoft.com/office/drawing/2014/main" id="{D3A2E6C0-AD33-59C3-16ED-E2A2BD909AB1}"/>
              </a:ext>
            </a:extLst>
          </p:cNvPr>
          <p:cNvSpPr/>
          <p:nvPr/>
        </p:nvSpPr>
        <p:spPr>
          <a:xfrm>
            <a:off x="6975679" y="3407051"/>
            <a:ext cx="4568986" cy="111058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Segment discounting strategy</a:t>
            </a:r>
            <a:r>
              <a:rPr lang="en-US" sz="1400" dirty="0">
                <a:solidFill>
                  <a:schemeClr val="tx1"/>
                </a:solidFill>
              </a:rPr>
              <a:t> by AOV level: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rgbClr val="FF0000"/>
                </a:solidFill>
              </a:rPr>
              <a:t>Reduce incentives </a:t>
            </a:r>
            <a:r>
              <a:rPr lang="en-US" sz="1400" dirty="0">
                <a:solidFill>
                  <a:schemeClr val="tx1"/>
                </a:solidFill>
              </a:rPr>
              <a:t>but offer other </a:t>
            </a:r>
            <a:r>
              <a:rPr lang="en-US" sz="1400" b="1" dirty="0">
                <a:solidFill>
                  <a:schemeClr val="tx1"/>
                </a:solidFill>
              </a:rPr>
              <a:t>VIP benefits </a:t>
            </a:r>
            <a:r>
              <a:rPr lang="en-US" sz="1400" dirty="0">
                <a:solidFill>
                  <a:schemeClr val="tx1"/>
                </a:solidFill>
              </a:rPr>
              <a:t>instead for Cluster02 &amp; </a:t>
            </a:r>
            <a:r>
              <a:rPr lang="en-US" sz="1400" b="1" dirty="0">
                <a:solidFill>
                  <a:schemeClr val="tx1"/>
                </a:solidFill>
              </a:rPr>
              <a:t>high-AOV buyers</a:t>
            </a:r>
            <a:r>
              <a:rPr lang="en-US" sz="1400" dirty="0">
                <a:solidFill>
                  <a:schemeClr val="tx1"/>
                </a:solidFill>
              </a:rPr>
              <a:t>, and test </a:t>
            </a:r>
            <a:r>
              <a:rPr lang="en-US" sz="1400" b="1" dirty="0">
                <a:solidFill>
                  <a:schemeClr val="accent3"/>
                </a:solidFill>
              </a:rPr>
              <a:t>heavier promos </a:t>
            </a:r>
            <a:r>
              <a:rPr lang="en-US" sz="1400" dirty="0">
                <a:solidFill>
                  <a:schemeClr val="tx1"/>
                </a:solidFill>
              </a:rPr>
              <a:t>only on </a:t>
            </a:r>
            <a:r>
              <a:rPr lang="en-US" sz="1400" b="1" dirty="0">
                <a:solidFill>
                  <a:schemeClr val="tx1"/>
                </a:solidFill>
              </a:rPr>
              <a:t>low-spending clusters (Cluster 0 &amp; 1)</a:t>
            </a:r>
          </a:p>
        </p:txBody>
      </p:sp>
      <p:sp>
        <p:nvSpPr>
          <p:cNvPr id="15" name="Rectangle: Rounded Corners 22">
            <a:extLst>
              <a:ext uri="{FF2B5EF4-FFF2-40B4-BE49-F238E27FC236}">
                <a16:creationId xmlns:a16="http://schemas.microsoft.com/office/drawing/2014/main" id="{EFC4544E-311D-54B9-22D0-F8FBCC25B07E}"/>
              </a:ext>
            </a:extLst>
          </p:cNvPr>
          <p:cNvSpPr/>
          <p:nvPr/>
        </p:nvSpPr>
        <p:spPr>
          <a:xfrm>
            <a:off x="1049259" y="5627212"/>
            <a:ext cx="4651829" cy="93886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b="1" dirty="0">
                <a:solidFill>
                  <a:schemeClr val="tx1"/>
                </a:solidFill>
              </a:rPr>
              <a:t>Key categories drive revenue &amp; retention –</a:t>
            </a:r>
          </a:p>
          <a:p>
            <a:pPr algn="ctr">
              <a:spcBef>
                <a:spcPts val="600"/>
              </a:spcBef>
            </a:pPr>
            <a:r>
              <a:rPr lang="en-US" sz="1400" b="1" dirty="0">
                <a:solidFill>
                  <a:schemeClr val="accent3"/>
                </a:solidFill>
              </a:rPr>
              <a:t>Electronics, Home &amp; Kitchen and Computers </a:t>
            </a:r>
            <a:r>
              <a:rPr lang="en-US" sz="1400" dirty="0">
                <a:solidFill>
                  <a:schemeClr val="tx1"/>
                </a:solidFill>
              </a:rPr>
              <a:t>have </a:t>
            </a:r>
            <a:r>
              <a:rPr lang="en-US" sz="1400" dirty="0">
                <a:solidFill>
                  <a:srgbClr val="00B050"/>
                </a:solidFill>
              </a:rPr>
              <a:t>high AOV, good ratings</a:t>
            </a:r>
            <a:r>
              <a:rPr lang="en-US" sz="1400" dirty="0">
                <a:solidFill>
                  <a:schemeClr val="tx1"/>
                </a:solidFill>
              </a:rPr>
              <a:t>, and the</a:t>
            </a:r>
            <a:r>
              <a:rPr lang="en-US" sz="1400" dirty="0">
                <a:solidFill>
                  <a:srgbClr val="00B050"/>
                </a:solidFill>
              </a:rPr>
              <a:t> most repeat customers.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18" name="Rectangle: Rounded Corners 37">
            <a:extLst>
              <a:ext uri="{FF2B5EF4-FFF2-40B4-BE49-F238E27FC236}">
                <a16:creationId xmlns:a16="http://schemas.microsoft.com/office/drawing/2014/main" id="{528DDCFA-7A36-4596-E543-4DB980DBF8FD}"/>
              </a:ext>
            </a:extLst>
          </p:cNvPr>
          <p:cNvSpPr/>
          <p:nvPr/>
        </p:nvSpPr>
        <p:spPr>
          <a:xfrm>
            <a:off x="6999641" y="5627212"/>
            <a:ext cx="4489572" cy="938862"/>
          </a:xfrm>
          <a:prstGeom prst="roundRect">
            <a:avLst>
              <a:gd name="adj" fmla="val 9461"/>
            </a:avLst>
          </a:pr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Increase SKUs </a:t>
            </a:r>
            <a:r>
              <a:rPr lang="en-US" sz="1400" dirty="0"/>
              <a:t>and run retention campaigns in </a:t>
            </a:r>
            <a:r>
              <a:rPr lang="en-US" sz="1400" b="1" dirty="0"/>
              <a:t>Electronics, Home &amp; Kitchen, and Computers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→ These categories attract </a:t>
            </a:r>
            <a:r>
              <a:rPr lang="en-US" sz="1400" b="1" dirty="0"/>
              <a:t>Cluster 2 buyers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835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2" grpId="0" animBg="1"/>
      <p:bldP spid="13" grpId="0" animBg="1"/>
      <p:bldP spid="15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662437-E6C7-9008-AFF9-373F4EE5D0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2818309"/>
            <a:ext cx="11573197" cy="724247"/>
          </a:xfrm>
        </p:spPr>
        <p:txBody>
          <a:bodyPr/>
          <a:lstStyle/>
          <a:p>
            <a:r>
              <a:rPr lang="en-TH" dirty="0">
                <a:solidFill>
                  <a:schemeClr val="bg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076798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colorful lines and numbers&#10;&#10;AI-generated content may be incorrect.">
            <a:extLst>
              <a:ext uri="{FF2B5EF4-FFF2-40B4-BE49-F238E27FC236}">
                <a16:creationId xmlns:a16="http://schemas.microsoft.com/office/drawing/2014/main" id="{61CBE9D5-E1BB-DE9D-80F8-51F755E53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47" y="1724826"/>
            <a:ext cx="3505200" cy="2501900"/>
          </a:xfrm>
          <a:prstGeom prst="rect">
            <a:avLst/>
          </a:prstGeom>
        </p:spPr>
      </p:pic>
      <p:pic>
        <p:nvPicPr>
          <p:cNvPr id="5" name="Picture 4" descr="A screenshot of a white sheet with black text&#10;&#10;AI-generated content may be incorrect.">
            <a:extLst>
              <a:ext uri="{FF2B5EF4-FFF2-40B4-BE49-F238E27FC236}">
                <a16:creationId xmlns:a16="http://schemas.microsoft.com/office/drawing/2014/main" id="{EDF7B8BA-9D42-60EB-3454-B94D2F7EB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451" y="1846728"/>
            <a:ext cx="3239877" cy="2258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357DF3-621D-1F15-579F-0F2555D235D4}"/>
              </a:ext>
            </a:extLst>
          </p:cNvPr>
          <p:cNvSpPr txBox="1"/>
          <p:nvPr/>
        </p:nvSpPr>
        <p:spPr>
          <a:xfrm>
            <a:off x="1236603" y="1246784"/>
            <a:ext cx="301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AOV by each category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A79EA-96D7-0F49-A3F9-D37E5EE4C7B7}"/>
              </a:ext>
            </a:extLst>
          </p:cNvPr>
          <p:cNvSpPr txBox="1"/>
          <p:nvPr/>
        </p:nvSpPr>
        <p:spPr>
          <a:xfrm>
            <a:off x="4603354" y="1347758"/>
            <a:ext cx="301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dirty="0"/>
              <a:t>AOV (INR) in 2019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88F4D-3677-98F6-2F20-7FC9924D53DF}"/>
              </a:ext>
            </a:extLst>
          </p:cNvPr>
          <p:cNvSpPr txBox="1"/>
          <p:nvPr/>
        </p:nvSpPr>
        <p:spPr>
          <a:xfrm>
            <a:off x="2154115" y="4335436"/>
            <a:ext cx="1055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sz="1100" dirty="0"/>
              <a:t>Figure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9906D-7AE2-B221-A00F-256628F52B46}"/>
              </a:ext>
            </a:extLst>
          </p:cNvPr>
          <p:cNvSpPr txBox="1"/>
          <p:nvPr/>
        </p:nvSpPr>
        <p:spPr>
          <a:xfrm>
            <a:off x="5744307" y="4294677"/>
            <a:ext cx="1055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sz="1100" dirty="0"/>
              <a:t>Figure 2</a:t>
            </a:r>
          </a:p>
        </p:txBody>
      </p:sp>
    </p:spTree>
    <p:extLst>
      <p:ext uri="{BB962C8B-B14F-4D97-AF65-F5344CB8AC3E}">
        <p14:creationId xmlns:p14="http://schemas.microsoft.com/office/powerpoint/2010/main" val="2511708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ED89CA-107A-0743-55C9-FFFD89D86E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7" y="-89575"/>
            <a:ext cx="11573197" cy="724247"/>
          </a:xfrm>
        </p:spPr>
        <p:txBody>
          <a:bodyPr/>
          <a:lstStyle/>
          <a:p>
            <a:r>
              <a:rPr lang="en-US" sz="2800" dirty="0"/>
              <a:t>Overall Cohort Analysis : Final discount price &amp; Final discount price %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458F4AED-4CC6-B1E1-2303-C44B87ED1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520" y="466430"/>
            <a:ext cx="7607300" cy="232410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15C297A-EB30-70F9-61C1-30B3F13FF2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126" y="3527262"/>
            <a:ext cx="76200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04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2417AF-A9DC-9B1B-B097-8D5D47F674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6138" y="2959711"/>
            <a:ext cx="11573197" cy="724247"/>
          </a:xfrm>
        </p:spPr>
        <p:txBody>
          <a:bodyPr/>
          <a:lstStyle/>
          <a:p>
            <a:r>
              <a:rPr lang="en-TH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018744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Custom 1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4377</TotalTime>
  <Words>3558</Words>
  <Application>Microsoft Macintosh PowerPoint</Application>
  <PresentationFormat>Widescreen</PresentationFormat>
  <Paragraphs>470</Paragraphs>
  <Slides>35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Tanyanid Pipobsukavadee</cp:lastModifiedBy>
  <cp:revision>128</cp:revision>
  <dcterms:created xsi:type="dcterms:W3CDTF">2018-04-24T17:14:44Z</dcterms:created>
  <dcterms:modified xsi:type="dcterms:W3CDTF">2025-06-16T11:58:23Z</dcterms:modified>
</cp:coreProperties>
</file>